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</p:sldIdLst>
  <p:notesMasterIdLst>
    <p:notesMasterId r:id="rId34"/>
  </p:notesMasterIdLst>
  <p:sldSz cx="14630400" cy="9144000"/>
  <p:notesSz cx="9144000" cy="146304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notesMaster" Target="notesMasters/notesMaster1.xml"/><Relationship Id="rId35" Type="http://schemas.openxmlformats.org/officeDocument/2006/relationships/presProps" Target="presProps.xml"/><Relationship Id="rId36" Type="http://schemas.openxmlformats.org/officeDocument/2006/relationships/viewProps" Target="viewProps.xml"/><Relationship Id="rId37" Type="http://schemas.openxmlformats.org/officeDocument/2006/relationships/theme" Target="theme/theme1.xml"/><Relationship Id="rId3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0F0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94360" y="68580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AEB4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PERSONALITY ASSESSOR</a:t>
            </a:r>
            <a:endParaRPr lang="en-US" sz="1800" dirty="0"/>
          </a:p>
        </p:txBody>
      </p:sp>
      <p:sp>
        <p:nvSpPr>
          <p:cNvPr id="3" name="Text 1"/>
          <p:cNvSpPr txBox="1"/>
          <p:nvPr/>
        </p:nvSpPr>
        <p:spPr>
          <a:xfrm>
            <a:off x="594360" y="1325880"/>
            <a:ext cx="129844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5400" b="1" dirty="0">
                <a:solidFill>
                  <a:srgbClr val="F3F5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LIVING RECORD</a:t>
            </a:r>
            <a:endParaRPr lang="en-US" sz="5400" dirty="0"/>
          </a:p>
        </p:txBody>
      </p:sp>
      <p:sp>
        <p:nvSpPr>
          <p:cNvPr id="4" name="Text 2"/>
          <p:cNvSpPr txBox="1"/>
          <p:nvPr/>
        </p:nvSpPr>
        <p:spPr>
          <a:xfrm>
            <a:off x="594360" y="260604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200" dirty="0">
                <a:solidFill>
                  <a:srgbClr val="F3F5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High-fidelity composition board pack</a:t>
            </a:r>
            <a:endParaRPr lang="en-US" sz="2200" dirty="0"/>
          </a:p>
        </p:txBody>
      </p:sp>
      <p:sp>
        <p:nvSpPr>
          <p:cNvPr id="5" name="Text 3"/>
          <p:cNvSpPr txBox="1"/>
          <p:nvPr/>
        </p:nvSpPr>
        <p:spPr>
          <a:xfrm>
            <a:off x="594360" y="315468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AEB4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Static design gate - exact geometry and ownership before engineering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011680" y="5989320"/>
            <a:ext cx="9144000" cy="1143000"/>
          </a:xfrm>
          <a:prstGeom prst="rect">
            <a:avLst/>
          </a:prstGeom>
          <a:solidFill>
            <a:srgbClr val="F3F5F2"/>
          </a:solidFill>
          <a:ln w="12700">
            <a:solidFill>
              <a:srgbClr val="F3F5F2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011680" y="5989320"/>
            <a:ext cx="64008" cy="1143000"/>
          </a:xfrm>
          <a:prstGeom prst="rect">
            <a:avLst/>
          </a:prstGeom>
          <a:solidFill>
            <a:srgbClr val="642832"/>
          </a:solidFill>
          <a:ln w="12700">
            <a:solidFill>
              <a:srgbClr val="642832">
                <a:alpha val="0"/>
              </a:srgbClr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2148840" y="6080760"/>
            <a:ext cx="210312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69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ILLUSTRATIVE RESPONSE</a:t>
            </a:r>
            <a:endParaRPr lang="en-US" sz="900" dirty="0"/>
          </a:p>
        </p:txBody>
      </p:sp>
      <p:sp>
        <p:nvSpPr>
          <p:cNvPr id="9" name="Text 7"/>
          <p:cNvSpPr txBox="1"/>
          <p:nvPr/>
        </p:nvSpPr>
        <p:spPr>
          <a:xfrm>
            <a:off x="2148840" y="6300216"/>
            <a:ext cx="6035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00" i="1" dirty="0">
                <a:solidFill>
                  <a:srgbClr val="0D0F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“I clarify responsibilities before committing work.”</a:t>
            </a:r>
            <a:endParaRPr lang="en-US" sz="1700" dirty="0"/>
          </a:p>
        </p:txBody>
      </p:sp>
      <p:sp>
        <p:nvSpPr>
          <p:cNvPr id="10" name="Text 8"/>
          <p:cNvSpPr txBox="1"/>
          <p:nvPr/>
        </p:nvSpPr>
        <p:spPr>
          <a:xfrm>
            <a:off x="9326880" y="6153912"/>
            <a:ext cx="1554480" cy="6286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69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 RETAINED</a:t>
            </a:r>
            <a:endParaRPr lang="en-US" sz="900" dirty="0"/>
          </a:p>
        </p:txBody>
      </p:sp>
      <p:sp>
        <p:nvSpPr>
          <p:cNvPr id="11" name="Text 9"/>
          <p:cNvSpPr txBox="1"/>
          <p:nvPr/>
        </p:nvSpPr>
        <p:spPr>
          <a:xfrm>
            <a:off x="594360" y="8321040"/>
            <a:ext cx="1325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AEB4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White Desert: world + operational truth  |  Lenis: temporal continuity  |  Oryzo: protagonist  |  Lando: route modes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0F0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228600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3F5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Personality Assessor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7315200" y="228600"/>
            <a:ext cx="6812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00" dirty="0">
                <a:solidFill>
                  <a:srgbClr val="AEB4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it works   Career   Progress   Methodology   Trust   Sign in   Index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658368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AEB4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STATIC BOARD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502920" y="1005840"/>
            <a:ext cx="135331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3F5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Home / World Entry / Frame 0</a:t>
            </a:r>
            <a:endParaRPr lang="en-US" sz="2600" dirty="0"/>
          </a:p>
        </p:txBody>
      </p:sp>
      <p:sp>
        <p:nvSpPr>
          <p:cNvPr id="6" name="Text 4"/>
          <p:cNvSpPr txBox="1"/>
          <p:nvPr/>
        </p:nvSpPr>
        <p:spPr>
          <a:xfrm>
            <a:off x="502920" y="1664208"/>
            <a:ext cx="13258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AEB4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Environment owns first impression. Evidence Strip crosses the professional world. No split hero.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840480" y="960120"/>
            <a:ext cx="10424160" cy="7680960"/>
          </a:xfrm>
          <a:prstGeom prst="rect">
            <a:avLst/>
          </a:prstGeom>
          <a:solidFill>
            <a:srgbClr val="313633"/>
          </a:solidFill>
          <a:ln w="12700">
            <a:solidFill>
              <a:srgbClr val="313633">
                <a:alpha val="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091379" y="1574597"/>
            <a:ext cx="2293315" cy="6452006"/>
          </a:xfrm>
          <a:prstGeom prst="rect">
            <a:avLst/>
          </a:prstGeom>
          <a:solidFill>
            <a:srgbClr val="3C423E"/>
          </a:solidFill>
          <a:ln w="12700">
            <a:solidFill>
              <a:srgbClr val="3C423E">
                <a:alpha val="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905902" y="2342693"/>
            <a:ext cx="5003597" cy="4224528"/>
          </a:xfrm>
          <a:prstGeom prst="rect">
            <a:avLst/>
          </a:prstGeom>
          <a:solidFill>
            <a:srgbClr val="272C29"/>
          </a:solidFill>
          <a:ln w="12700">
            <a:solidFill>
              <a:srgbClr val="272C29">
                <a:alpha val="0"/>
              </a:srgbClr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257446" y="6644030"/>
            <a:ext cx="9381744" cy="92171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3F5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homeContext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4257446" y="7565746"/>
            <a:ext cx="9381744" cy="61447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AEB4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primary environment / bleed right</a:t>
            </a:r>
            <a:endParaRPr lang="en-US" sz="900" dirty="0"/>
          </a:p>
        </p:txBody>
      </p:sp>
      <p:sp>
        <p:nvSpPr>
          <p:cNvPr id="12" name="Text 10"/>
          <p:cNvSpPr txBox="1"/>
          <p:nvPr/>
        </p:nvSpPr>
        <p:spPr>
          <a:xfrm>
            <a:off x="594360" y="1325880"/>
            <a:ext cx="6583680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4600" b="1" dirty="0">
                <a:solidFill>
                  <a:srgbClr val="F3F5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Keep the</a:t>
            </a:r>
            <a:endParaRPr lang="en-US" sz="4600" dirty="0"/>
          </a:p>
          <a:p>
            <a:pPr algn="l" indent="0" marL="0">
              <a:buNone/>
            </a:pPr>
            <a:r>
              <a:rPr lang="en-US" sz="4600" b="1" dirty="0">
                <a:solidFill>
                  <a:srgbClr val="F3F5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 attached.</a:t>
            </a:r>
            <a:endParaRPr lang="en-US" sz="4600" dirty="0"/>
          </a:p>
        </p:txBody>
      </p:sp>
      <p:sp>
        <p:nvSpPr>
          <p:cNvPr id="13" name="Text 11"/>
          <p:cNvSpPr txBox="1"/>
          <p:nvPr/>
        </p:nvSpPr>
        <p:spPr>
          <a:xfrm>
            <a:off x="640080" y="3657600"/>
            <a:ext cx="4389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F3F5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professional response can contribute to personality, interests, values and career interpretation without losing the context it came from.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914400" y="5577840"/>
            <a:ext cx="3017520" cy="1920240"/>
          </a:xfrm>
          <a:prstGeom prst="rect">
            <a:avLst/>
          </a:prstGeom>
          <a:solidFill>
            <a:srgbClr val="313633"/>
          </a:solidFill>
          <a:ln w="12700">
            <a:solidFill>
              <a:srgbClr val="313633">
                <a:alpha val="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276502" y="5731459"/>
            <a:ext cx="663854" cy="1613002"/>
          </a:xfrm>
          <a:prstGeom prst="rect">
            <a:avLst/>
          </a:prstGeom>
          <a:solidFill>
            <a:srgbClr val="3C423E"/>
          </a:solidFill>
          <a:ln w="12700">
            <a:solidFill>
              <a:srgbClr val="3C423E">
                <a:alpha val="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091233" y="5923483"/>
            <a:ext cx="1448410" cy="1056132"/>
          </a:xfrm>
          <a:prstGeom prst="rect">
            <a:avLst/>
          </a:prstGeom>
          <a:solidFill>
            <a:srgbClr val="272C29"/>
          </a:solidFill>
          <a:ln w="12700">
            <a:solidFill>
              <a:srgbClr val="272C29">
                <a:alpha val="0"/>
              </a:srgbClr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1035101" y="6998818"/>
            <a:ext cx="2715768" cy="230429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20" b="1" dirty="0">
                <a:solidFill>
                  <a:srgbClr val="F3F5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homeAnalysis</a:t>
            </a:r>
            <a:endParaRPr lang="en-US" sz="1320" dirty="0"/>
          </a:p>
        </p:txBody>
      </p:sp>
      <p:sp>
        <p:nvSpPr>
          <p:cNvPr id="18" name="Text 16"/>
          <p:cNvSpPr txBox="1"/>
          <p:nvPr/>
        </p:nvSpPr>
        <p:spPr>
          <a:xfrm>
            <a:off x="1035101" y="7229246"/>
            <a:ext cx="2715768" cy="153619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AEB4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secondary depth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4572000" y="6172200"/>
            <a:ext cx="7315200" cy="914400"/>
          </a:xfrm>
          <a:prstGeom prst="rect">
            <a:avLst/>
          </a:prstGeom>
          <a:solidFill>
            <a:srgbClr val="F3F5F2"/>
          </a:solidFill>
          <a:ln w="12700">
            <a:solidFill>
              <a:srgbClr val="F3F5F2">
                <a:alpha val="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572000" y="6172200"/>
            <a:ext cx="64008" cy="914400"/>
          </a:xfrm>
          <a:prstGeom prst="rect">
            <a:avLst/>
          </a:prstGeom>
          <a:solidFill>
            <a:srgbClr val="642832"/>
          </a:solidFill>
          <a:ln w="12700">
            <a:solidFill>
              <a:srgbClr val="642832">
                <a:alpha val="0"/>
              </a:srgbClr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4709160" y="6263640"/>
            <a:ext cx="16824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69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ILLUSTRATIVE RESPONSE</a:t>
            </a:r>
            <a:endParaRPr lang="en-US" sz="900" dirty="0"/>
          </a:p>
        </p:txBody>
      </p:sp>
      <p:sp>
        <p:nvSpPr>
          <p:cNvPr id="22" name="Text 20"/>
          <p:cNvSpPr txBox="1"/>
          <p:nvPr/>
        </p:nvSpPr>
        <p:spPr>
          <a:xfrm>
            <a:off x="4709160" y="6483096"/>
            <a:ext cx="482803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00" i="1" dirty="0">
                <a:solidFill>
                  <a:srgbClr val="0D0F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“I clarify responsibilities before committing work.”</a:t>
            </a:r>
            <a:endParaRPr lang="en-US" sz="1700" dirty="0"/>
          </a:p>
        </p:txBody>
      </p:sp>
      <p:sp>
        <p:nvSpPr>
          <p:cNvPr id="23" name="Text 21"/>
          <p:cNvSpPr txBox="1"/>
          <p:nvPr/>
        </p:nvSpPr>
        <p:spPr>
          <a:xfrm>
            <a:off x="10424160" y="6336792"/>
            <a:ext cx="124358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69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 RETAINED</a:t>
            </a:r>
            <a:endParaRPr lang="en-US" sz="900" dirty="0"/>
          </a:p>
        </p:txBody>
      </p:sp>
      <p:sp>
        <p:nvSpPr>
          <p:cNvPr id="24" name="Text 22"/>
          <p:cNvSpPr txBox="1"/>
          <p:nvPr/>
        </p:nvSpPr>
        <p:spPr>
          <a:xfrm>
            <a:off x="685800" y="489204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3F5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 profile</a:t>
            </a:r>
            <a:endParaRPr lang="en-US" sz="1200" dirty="0"/>
          </a:p>
        </p:txBody>
      </p:sp>
      <p:sp>
        <p:nvSpPr>
          <p:cNvPr id="25" name="Text 23"/>
          <p:cNvSpPr txBox="1"/>
          <p:nvPr/>
        </p:nvSpPr>
        <p:spPr>
          <a:xfrm>
            <a:off x="2468880" y="489204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AEB4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See how the record moves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0F0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228600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3F5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Personality Assessor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7315200" y="228600"/>
            <a:ext cx="6812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00" dirty="0">
                <a:solidFill>
                  <a:srgbClr val="AEB4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it works   Career   Progress   Methodology   Trust   Sign in   Index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658368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AEB4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STATIC BOARD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502920" y="1005840"/>
            <a:ext cx="135331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3F5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Home / World Entry / Frame 25</a:t>
            </a:r>
            <a:endParaRPr lang="en-US" sz="2600" dirty="0"/>
          </a:p>
        </p:txBody>
      </p:sp>
      <p:sp>
        <p:nvSpPr>
          <p:cNvPr id="6" name="Text 4"/>
          <p:cNvSpPr txBox="1"/>
          <p:nvPr/>
        </p:nvSpPr>
        <p:spPr>
          <a:xfrm>
            <a:off x="502920" y="1664208"/>
            <a:ext cx="13258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AEB4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World shifts more than protagonist. Source registration resolves.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200400" y="685800"/>
            <a:ext cx="11155680" cy="7955280"/>
          </a:xfrm>
          <a:prstGeom prst="rect">
            <a:avLst/>
          </a:prstGeom>
          <a:solidFill>
            <a:srgbClr val="313633"/>
          </a:solidFill>
          <a:ln w="12700">
            <a:solidFill>
              <a:srgbClr val="313633">
                <a:alpha val="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39082" y="1322222"/>
            <a:ext cx="2454250" cy="6682435"/>
          </a:xfrm>
          <a:prstGeom prst="rect">
            <a:avLst/>
          </a:prstGeom>
          <a:solidFill>
            <a:srgbClr val="3C423E"/>
          </a:solidFill>
          <a:ln w="12700">
            <a:solidFill>
              <a:srgbClr val="3C423E">
                <a:alpha val="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551115" y="2117750"/>
            <a:ext cx="5354726" cy="4375404"/>
          </a:xfrm>
          <a:prstGeom prst="rect">
            <a:avLst/>
          </a:prstGeom>
          <a:solidFill>
            <a:srgbClr val="272C29"/>
          </a:solidFill>
          <a:ln w="12700">
            <a:solidFill>
              <a:srgbClr val="272C29">
                <a:alpha val="0"/>
              </a:srgbClr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3646627" y="6572707"/>
            <a:ext cx="10040112" cy="95463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3F5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homeContext / tighter crop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3646627" y="7527341"/>
            <a:ext cx="10040112" cy="63642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AEB4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environment drift</a:t>
            </a:r>
            <a:endParaRPr lang="en-US" sz="900" dirty="0"/>
          </a:p>
        </p:txBody>
      </p:sp>
      <p:sp>
        <p:nvSpPr>
          <p:cNvPr id="12" name="Text 10"/>
          <p:cNvSpPr txBox="1"/>
          <p:nvPr/>
        </p:nvSpPr>
        <p:spPr>
          <a:xfrm>
            <a:off x="685800" y="1097280"/>
            <a:ext cx="66751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3F5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Keep the source attached.</a:t>
            </a:r>
            <a:endParaRPr lang="en-US" sz="3600" dirty="0"/>
          </a:p>
        </p:txBody>
      </p:sp>
      <p:sp>
        <p:nvSpPr>
          <p:cNvPr id="13" name="Shape 11"/>
          <p:cNvSpPr/>
          <p:nvPr/>
        </p:nvSpPr>
        <p:spPr>
          <a:xfrm>
            <a:off x="640080" y="5074920"/>
            <a:ext cx="3474720" cy="2194560"/>
          </a:xfrm>
          <a:prstGeom prst="rect">
            <a:avLst/>
          </a:prstGeom>
          <a:solidFill>
            <a:srgbClr val="313633"/>
          </a:solidFill>
          <a:ln w="12700">
            <a:solidFill>
              <a:srgbClr val="313633">
                <a:alpha val="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057046" y="5250485"/>
            <a:ext cx="764438" cy="1843430"/>
          </a:xfrm>
          <a:prstGeom prst="rect">
            <a:avLst/>
          </a:prstGeom>
          <a:solidFill>
            <a:srgbClr val="3C423E"/>
          </a:solidFill>
          <a:ln w="12700">
            <a:solidFill>
              <a:srgbClr val="3C423E">
                <a:alpha val="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995221" y="5469941"/>
            <a:ext cx="1667866" cy="1207008"/>
          </a:xfrm>
          <a:prstGeom prst="rect">
            <a:avLst/>
          </a:prstGeom>
          <a:solidFill>
            <a:srgbClr val="272C29"/>
          </a:solidFill>
          <a:ln w="12700">
            <a:solidFill>
              <a:srgbClr val="272C29">
                <a:alpha val="0"/>
              </a:srgbClr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779069" y="6698894"/>
            <a:ext cx="3127248" cy="26334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3F5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homeAnalysis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779069" y="6962242"/>
            <a:ext cx="3127248" cy="17556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AEB4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counter-depth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4663440" y="5440680"/>
            <a:ext cx="7406640" cy="960120"/>
          </a:xfrm>
          <a:prstGeom prst="rect">
            <a:avLst/>
          </a:prstGeom>
          <a:solidFill>
            <a:srgbClr val="F3F5F2"/>
          </a:solidFill>
          <a:ln w="12700">
            <a:solidFill>
              <a:srgbClr val="F3F5F2">
                <a:alpha val="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663440" y="5440680"/>
            <a:ext cx="64008" cy="960120"/>
          </a:xfrm>
          <a:prstGeom prst="rect">
            <a:avLst/>
          </a:prstGeom>
          <a:solidFill>
            <a:srgbClr val="642832"/>
          </a:solidFill>
          <a:ln w="12700">
            <a:solidFill>
              <a:srgbClr val="642832">
                <a:alpha val="0"/>
              </a:srgbClr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4800600" y="5532120"/>
            <a:ext cx="1703527" cy="21122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69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ILLUSTRATIVE RESPONSE</a:t>
            </a:r>
            <a:endParaRPr lang="en-US" sz="900" dirty="0"/>
          </a:p>
        </p:txBody>
      </p:sp>
      <p:sp>
        <p:nvSpPr>
          <p:cNvPr id="21" name="Text 19"/>
          <p:cNvSpPr txBox="1"/>
          <p:nvPr/>
        </p:nvSpPr>
        <p:spPr>
          <a:xfrm>
            <a:off x="4800600" y="5751576"/>
            <a:ext cx="4888382" cy="42245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00" i="1" dirty="0">
                <a:solidFill>
                  <a:srgbClr val="0D0F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“I clarify responsibilities before committing work.”</a:t>
            </a:r>
            <a:endParaRPr lang="en-US" sz="1700" dirty="0"/>
          </a:p>
        </p:txBody>
      </p:sp>
      <p:sp>
        <p:nvSpPr>
          <p:cNvPr id="22" name="Text 20"/>
          <p:cNvSpPr txBox="1"/>
          <p:nvPr/>
        </p:nvSpPr>
        <p:spPr>
          <a:xfrm>
            <a:off x="10588752" y="5605272"/>
            <a:ext cx="1259129" cy="52806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69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 RETAINED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0F0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228600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3F5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Personality Assessor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7315200" y="228600"/>
            <a:ext cx="6812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00" dirty="0">
                <a:solidFill>
                  <a:srgbClr val="AEB4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it works   Career   Progress   Methodology   Trust   Sign in   Index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658368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AEB4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STATIC BOARD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502920" y="1005840"/>
            <a:ext cx="135331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3F5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Home / World Entry / Frame 50</a:t>
            </a:r>
            <a:endParaRPr lang="en-US" sz="2600" dirty="0"/>
          </a:p>
        </p:txBody>
      </p:sp>
      <p:sp>
        <p:nvSpPr>
          <p:cNvPr id="6" name="Text 4"/>
          <p:cNvSpPr txBox="1"/>
          <p:nvPr/>
        </p:nvSpPr>
        <p:spPr>
          <a:xfrm>
            <a:off x="502920" y="1664208"/>
            <a:ext cx="13258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AEB4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Environment compresses into memory; record becomes the visual constant.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6400800" y="822960"/>
            <a:ext cx="7863840" cy="6309360"/>
          </a:xfrm>
          <a:prstGeom prst="rect">
            <a:avLst/>
          </a:prstGeom>
          <a:solidFill>
            <a:srgbClr val="313633"/>
          </a:solidFill>
          <a:ln w="12700">
            <a:solidFill>
              <a:srgbClr val="313633">
                <a:alpha val="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344461" y="1327709"/>
            <a:ext cx="1730045" cy="5299862"/>
          </a:xfrm>
          <a:prstGeom prst="rect">
            <a:avLst/>
          </a:prstGeom>
          <a:solidFill>
            <a:srgbClr val="3C423E"/>
          </a:solidFill>
          <a:ln w="12700">
            <a:solidFill>
              <a:srgbClr val="3C423E">
                <a:alpha val="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467698" y="1958645"/>
            <a:ext cx="3774643" cy="3470148"/>
          </a:xfrm>
          <a:prstGeom prst="rect">
            <a:avLst/>
          </a:prstGeom>
          <a:solidFill>
            <a:srgbClr val="272C29"/>
          </a:solidFill>
          <a:ln w="12700">
            <a:solidFill>
              <a:srgbClr val="272C29">
                <a:alpha val="0"/>
              </a:srgbClr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715354" y="5491886"/>
            <a:ext cx="7077456" cy="75712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3F5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homeContext / memory crop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6715354" y="6249010"/>
            <a:ext cx="7077456" cy="504749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AEB4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right-edge environment residue</a:t>
            </a:r>
            <a:endParaRPr lang="en-US" sz="900" dirty="0"/>
          </a:p>
        </p:txBody>
      </p:sp>
      <p:sp>
        <p:nvSpPr>
          <p:cNvPr id="12" name="Text 10"/>
          <p:cNvSpPr txBox="1"/>
          <p:nvPr/>
        </p:nvSpPr>
        <p:spPr>
          <a:xfrm>
            <a:off x="594360" y="1188720"/>
            <a:ext cx="62179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AEB4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Keep the source</a:t>
            </a:r>
            <a:endParaRPr lang="en-US" sz="4000" dirty="0"/>
          </a:p>
        </p:txBody>
      </p:sp>
      <p:sp>
        <p:nvSpPr>
          <p:cNvPr id="13" name="Shape 11"/>
          <p:cNvSpPr/>
          <p:nvPr/>
        </p:nvSpPr>
        <p:spPr>
          <a:xfrm>
            <a:off x="3566160" y="3383280"/>
            <a:ext cx="7589520" cy="1051560"/>
          </a:xfrm>
          <a:prstGeom prst="rect">
            <a:avLst/>
          </a:prstGeom>
          <a:solidFill>
            <a:srgbClr val="F3F5F2"/>
          </a:solidFill>
          <a:ln w="12700">
            <a:solidFill>
              <a:srgbClr val="F3F5F2">
                <a:alpha val="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566160" y="3383280"/>
            <a:ext cx="64008" cy="1051560"/>
          </a:xfrm>
          <a:prstGeom prst="rect">
            <a:avLst/>
          </a:prstGeom>
          <a:solidFill>
            <a:srgbClr val="642832"/>
          </a:solidFill>
          <a:ln w="12700">
            <a:solidFill>
              <a:srgbClr val="642832">
                <a:alpha val="0"/>
              </a:srgbClr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3703320" y="3474720"/>
            <a:ext cx="1745590" cy="23134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69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ILLUSTRATIVE RESPONSE</a:t>
            </a:r>
            <a:endParaRPr lang="en-US" sz="900" dirty="0"/>
          </a:p>
        </p:txBody>
      </p:sp>
      <p:sp>
        <p:nvSpPr>
          <p:cNvPr id="16" name="Text 14"/>
          <p:cNvSpPr txBox="1"/>
          <p:nvPr/>
        </p:nvSpPr>
        <p:spPr>
          <a:xfrm>
            <a:off x="3703320" y="3694176"/>
            <a:ext cx="5009083" cy="46268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00" i="1" dirty="0">
                <a:solidFill>
                  <a:srgbClr val="0D0F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“I clarify responsibilities before committing work.”</a:t>
            </a:r>
            <a:endParaRPr lang="en-US" sz="1700" dirty="0"/>
          </a:p>
        </p:txBody>
      </p:sp>
      <p:sp>
        <p:nvSpPr>
          <p:cNvPr id="17" name="Text 15"/>
          <p:cNvSpPr txBox="1"/>
          <p:nvPr/>
        </p:nvSpPr>
        <p:spPr>
          <a:xfrm>
            <a:off x="9637776" y="3547872"/>
            <a:ext cx="1290218" cy="57835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69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answer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0F0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228600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3F5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Personality Assessor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7315200" y="228600"/>
            <a:ext cx="6812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00" dirty="0">
                <a:solidFill>
                  <a:srgbClr val="AEB4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it works   Career   Progress   Methodology   Trust   Sign in   Index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658368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AEB4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STATIC BOARD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502920" y="1005840"/>
            <a:ext cx="135331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3F5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Home / World Entry / Frame 75</a:t>
            </a:r>
            <a:endParaRPr lang="en-US" sz="2600" dirty="0"/>
          </a:p>
        </p:txBody>
      </p:sp>
      <p:sp>
        <p:nvSpPr>
          <p:cNvPr id="6" name="Text 4"/>
          <p:cNvSpPr txBox="1"/>
          <p:nvPr/>
        </p:nvSpPr>
        <p:spPr>
          <a:xfrm>
            <a:off x="502920" y="1664208"/>
            <a:ext cx="13258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AEB4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Carbon owns the world. First trace begins before the next scene.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11612880" y="1097280"/>
            <a:ext cx="2560320" cy="5852160"/>
          </a:xfrm>
          <a:prstGeom prst="rect">
            <a:avLst/>
          </a:prstGeom>
          <a:solidFill>
            <a:srgbClr val="313633"/>
          </a:solidFill>
          <a:ln w="12700">
            <a:solidFill>
              <a:srgbClr val="313633">
                <a:alpha val="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1920118" y="1565453"/>
            <a:ext cx="563270" cy="4915814"/>
          </a:xfrm>
          <a:prstGeom prst="rect">
            <a:avLst/>
          </a:prstGeom>
          <a:solidFill>
            <a:srgbClr val="3C423E"/>
          </a:solidFill>
          <a:ln w="12700">
            <a:solidFill>
              <a:srgbClr val="3C423E">
                <a:alpha val="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2611405" y="2150669"/>
            <a:ext cx="1228954" cy="3218688"/>
          </a:xfrm>
          <a:prstGeom prst="rect">
            <a:avLst/>
          </a:prstGeom>
          <a:solidFill>
            <a:srgbClr val="272C29"/>
          </a:solidFill>
          <a:ln w="12700">
            <a:solidFill>
              <a:srgbClr val="272C29">
                <a:alpha val="0"/>
              </a:srgbClr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11715293" y="5427878"/>
            <a:ext cx="2304288" cy="702259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20" b="1" dirty="0">
                <a:solidFill>
                  <a:srgbClr val="F3F5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homeContext / residue</a:t>
            </a:r>
            <a:endParaRPr lang="en-US" sz="1120" dirty="0"/>
          </a:p>
        </p:txBody>
      </p:sp>
      <p:sp>
        <p:nvSpPr>
          <p:cNvPr id="11" name="Text 9"/>
          <p:cNvSpPr txBox="1"/>
          <p:nvPr/>
        </p:nvSpPr>
        <p:spPr>
          <a:xfrm>
            <a:off x="11715293" y="6130138"/>
            <a:ext cx="2304288" cy="46817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AEB4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environment memory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3200400" y="2971800"/>
            <a:ext cx="7863840" cy="1097280"/>
          </a:xfrm>
          <a:prstGeom prst="rect">
            <a:avLst/>
          </a:prstGeom>
          <a:solidFill>
            <a:srgbClr val="F3F5F2"/>
          </a:solidFill>
          <a:ln w="12700">
            <a:solidFill>
              <a:srgbClr val="F3F5F2">
                <a:alpha val="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200400" y="2971800"/>
            <a:ext cx="64008" cy="1097280"/>
          </a:xfrm>
          <a:prstGeom prst="rect">
            <a:avLst/>
          </a:prstGeom>
          <a:solidFill>
            <a:srgbClr val="642832"/>
          </a:solidFill>
          <a:ln w="12700">
            <a:solidFill>
              <a:srgbClr val="642832">
                <a:alpha val="0"/>
              </a:srgbClr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3337560" y="3063240"/>
            <a:ext cx="1808683" cy="24140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69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ILLUSTRATIVE RESPONSE</a:t>
            </a:r>
            <a:endParaRPr lang="en-US" sz="900" dirty="0"/>
          </a:p>
        </p:txBody>
      </p:sp>
      <p:sp>
        <p:nvSpPr>
          <p:cNvPr id="15" name="Text 13"/>
          <p:cNvSpPr txBox="1"/>
          <p:nvPr/>
        </p:nvSpPr>
        <p:spPr>
          <a:xfrm>
            <a:off x="3337560" y="3282696"/>
            <a:ext cx="5190134" cy="48280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00" i="1" dirty="0">
                <a:solidFill>
                  <a:srgbClr val="0D0F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“I clarify responsibilities before committing work.”</a:t>
            </a:r>
            <a:endParaRPr lang="en-US" sz="1700" dirty="0"/>
          </a:p>
        </p:txBody>
      </p:sp>
      <p:sp>
        <p:nvSpPr>
          <p:cNvPr id="16" name="Text 14"/>
          <p:cNvSpPr txBox="1"/>
          <p:nvPr/>
        </p:nvSpPr>
        <p:spPr>
          <a:xfrm>
            <a:off x="9491472" y="3136392"/>
            <a:ext cx="1336853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69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answer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6949440" y="4069080"/>
            <a:ext cx="-2743200" cy="1325880"/>
          </a:xfrm>
          <a:prstGeom prst="line">
            <a:avLst/>
          </a:prstGeom>
          <a:noFill/>
          <a:ln w="27940">
            <a:solidFill>
              <a:srgbClr val="642832"/>
            </a:solidFill>
            <a:prstDash val="solid"/>
            <a:headEnd type="none"/>
            <a:tailEnd type="none"/>
          </a:ln>
        </p:spPr>
      </p:sp>
      <p:sp>
        <p:nvSpPr>
          <p:cNvPr id="18" name="Text 16"/>
          <p:cNvSpPr txBox="1"/>
          <p:nvPr/>
        </p:nvSpPr>
        <p:spPr>
          <a:xfrm>
            <a:off x="594360" y="6400800"/>
            <a:ext cx="6400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3F5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response can create more than one evidence record.</a:t>
            </a:r>
            <a:endParaRPr lang="en-US" sz="2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0F0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228600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3F5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Personality Assessor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7315200" y="228600"/>
            <a:ext cx="6812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00" dirty="0">
                <a:solidFill>
                  <a:srgbClr val="AEB4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it works   Career   Progress   Methodology   Trust   Sign in   Index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658368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AEB4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STATIC BOARD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502920" y="1005840"/>
            <a:ext cx="135331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3F5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Home / Source Quiet / Frame 100</a:t>
            </a:r>
            <a:endParaRPr lang="en-US" sz="2600" dirty="0"/>
          </a:p>
        </p:txBody>
      </p:sp>
      <p:sp>
        <p:nvSpPr>
          <p:cNvPr id="6" name="Text 4"/>
          <p:cNvSpPr txBox="1"/>
          <p:nvPr/>
        </p:nvSpPr>
        <p:spPr>
          <a:xfrm>
            <a:off x="502920" y="1664208"/>
            <a:ext cx="13258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AEB4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Deliberate recovery state before branching. Minimal visual noise.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200400" y="2743200"/>
            <a:ext cx="7955280" cy="1097280"/>
          </a:xfrm>
          <a:prstGeom prst="rect">
            <a:avLst/>
          </a:prstGeom>
          <a:solidFill>
            <a:srgbClr val="F3F5F2"/>
          </a:solidFill>
          <a:ln w="12700">
            <a:solidFill>
              <a:srgbClr val="F3F5F2">
                <a:alpha val="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200400" y="2743200"/>
            <a:ext cx="64008" cy="1097280"/>
          </a:xfrm>
          <a:prstGeom prst="rect">
            <a:avLst/>
          </a:prstGeom>
          <a:solidFill>
            <a:srgbClr val="642832"/>
          </a:solidFill>
          <a:ln w="12700">
            <a:solidFill>
              <a:srgbClr val="642832">
                <a:alpha val="0"/>
              </a:srgbClr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337560" y="2834640"/>
            <a:ext cx="1829714" cy="24140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69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ILLUSTRATIVE RESPONSE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3337560" y="3054096"/>
            <a:ext cx="5250485" cy="48280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00" i="1" dirty="0">
                <a:solidFill>
                  <a:srgbClr val="0D0F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“I clarify responsibilities before committing work.”</a:t>
            </a:r>
            <a:endParaRPr lang="en-US" sz="1700" dirty="0"/>
          </a:p>
        </p:txBody>
      </p:sp>
      <p:sp>
        <p:nvSpPr>
          <p:cNvPr id="11" name="Text 9"/>
          <p:cNvSpPr txBox="1"/>
          <p:nvPr/>
        </p:nvSpPr>
        <p:spPr>
          <a:xfrm>
            <a:off x="9564624" y="2907792"/>
            <a:ext cx="135239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69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 / ANSWER</a:t>
            </a:r>
            <a:endParaRPr lang="en-US" sz="900" dirty="0"/>
          </a:p>
        </p:txBody>
      </p:sp>
      <p:sp>
        <p:nvSpPr>
          <p:cNvPr id="12" name="Text 10"/>
          <p:cNvSpPr txBox="1"/>
          <p:nvPr/>
        </p:nvSpPr>
        <p:spPr>
          <a:xfrm>
            <a:off x="822960" y="6080760"/>
            <a:ext cx="8046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3100" b="1" dirty="0">
                <a:solidFill>
                  <a:srgbClr val="F3F5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response can create more than one evidence record.</a:t>
            </a:r>
            <a:endParaRPr lang="en-US" sz="3100" dirty="0"/>
          </a:p>
        </p:txBody>
      </p:sp>
      <p:sp>
        <p:nvSpPr>
          <p:cNvPr id="13" name="Shape 11"/>
          <p:cNvSpPr/>
          <p:nvPr/>
        </p:nvSpPr>
        <p:spPr>
          <a:xfrm>
            <a:off x="7178040" y="3840480"/>
            <a:ext cx="-2926080" cy="1371600"/>
          </a:xfrm>
          <a:prstGeom prst="line">
            <a:avLst/>
          </a:prstGeom>
          <a:noFill/>
          <a:ln w="27940">
            <a:solidFill>
              <a:srgbClr val="642832"/>
            </a:solidFill>
            <a:prstDash val="solid"/>
            <a:headEnd type="none"/>
            <a:tailEnd type="none"/>
          </a:ln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0F0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228600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3F5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Personality Assessor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7315200" y="228600"/>
            <a:ext cx="6812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00" dirty="0">
                <a:solidFill>
                  <a:srgbClr val="AEB4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it works   Career   Progress   Methodology   Trust   Sign in   Index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658368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AEB4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STATIC BOARD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502920" y="1005840"/>
            <a:ext cx="135331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3F5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Home / Branching / Frame 25</a:t>
            </a:r>
            <a:endParaRPr lang="en-US" sz="2600" dirty="0"/>
          </a:p>
        </p:txBody>
      </p:sp>
      <p:sp>
        <p:nvSpPr>
          <p:cNvPr id="6" name="Text 4"/>
          <p:cNvSpPr txBox="1"/>
          <p:nvPr/>
        </p:nvSpPr>
        <p:spPr>
          <a:xfrm>
            <a:off x="502920" y="1664208"/>
            <a:ext cx="13258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AEB4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First contribution attaches. No quadrant infographic.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337560" y="3794760"/>
            <a:ext cx="7680960" cy="987552"/>
          </a:xfrm>
          <a:prstGeom prst="rect">
            <a:avLst/>
          </a:prstGeom>
          <a:solidFill>
            <a:srgbClr val="F3F5F2"/>
          </a:solidFill>
          <a:ln w="12700">
            <a:solidFill>
              <a:srgbClr val="F3F5F2">
                <a:alpha val="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337560" y="3794760"/>
            <a:ext cx="64008" cy="987552"/>
          </a:xfrm>
          <a:prstGeom prst="rect">
            <a:avLst/>
          </a:prstGeom>
          <a:solidFill>
            <a:srgbClr val="642832"/>
          </a:solidFill>
          <a:ln w="12700">
            <a:solidFill>
              <a:srgbClr val="642832">
                <a:alpha val="0"/>
              </a:srgbClr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474720" y="3886200"/>
            <a:ext cx="1766621" cy="217261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69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ILLUSTRATIVE RESPONSE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3474720" y="4105656"/>
            <a:ext cx="5069434" cy="43452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00" i="1" dirty="0">
                <a:solidFill>
                  <a:srgbClr val="0D0F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“I clarify responsibilities before committing work.”</a:t>
            </a:r>
            <a:endParaRPr lang="en-US" sz="1700" dirty="0"/>
          </a:p>
        </p:txBody>
      </p:sp>
      <p:sp>
        <p:nvSpPr>
          <p:cNvPr id="11" name="Text 9"/>
          <p:cNvSpPr txBox="1"/>
          <p:nvPr/>
        </p:nvSpPr>
        <p:spPr>
          <a:xfrm>
            <a:off x="9482328" y="3959352"/>
            <a:ext cx="1305763" cy="54315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69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 / ANSWER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5943600" y="3794760"/>
            <a:ext cx="-3840480" cy="-1920240"/>
          </a:xfrm>
          <a:prstGeom prst="line">
            <a:avLst/>
          </a:prstGeom>
          <a:noFill/>
          <a:ln w="27940">
            <a:solidFill>
              <a:srgbClr val="642832"/>
            </a:solidFill>
            <a:prstDash val="solid"/>
            <a:headEnd type="none"/>
            <a:tailEnd type="none"/>
          </a:ln>
        </p:spPr>
      </p:sp>
      <p:sp>
        <p:nvSpPr>
          <p:cNvPr id="13" name="Text 11"/>
          <p:cNvSpPr txBox="1"/>
          <p:nvPr/>
        </p:nvSpPr>
        <p:spPr>
          <a:xfrm>
            <a:off x="914400" y="105156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AEB4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BIG FIVE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914400" y="1417320"/>
            <a:ext cx="3291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3F5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conscientiousness</a:t>
            </a:r>
            <a:endParaRPr lang="en-US" sz="2400" dirty="0"/>
          </a:p>
          <a:p>
            <a:pPr algn="l" indent="0" marL="0">
              <a:buNone/>
            </a:pPr>
            <a:r>
              <a:rPr lang="en-US" sz="2400" b="1" dirty="0">
                <a:solidFill>
                  <a:srgbClr val="F3F5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positive contribution</a:t>
            </a:r>
            <a:endParaRPr lang="en-US" sz="2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0F0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228600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3F5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Personality Assessor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7315200" y="228600"/>
            <a:ext cx="6812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00" dirty="0">
                <a:solidFill>
                  <a:srgbClr val="AEB4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it works   Career   Progress   Methodology   Trust   Sign in   Index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658368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AEB4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STATIC BOARD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502920" y="1005840"/>
            <a:ext cx="135331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3F5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Home / Branching / Frame 50</a:t>
            </a:r>
            <a:endParaRPr lang="en-US" sz="2600" dirty="0"/>
          </a:p>
        </p:txBody>
      </p:sp>
      <p:sp>
        <p:nvSpPr>
          <p:cNvPr id="6" name="Text 4"/>
          <p:cNvSpPr txBox="1"/>
          <p:nvPr/>
        </p:nvSpPr>
        <p:spPr>
          <a:xfrm>
            <a:off x="502920" y="1664208"/>
            <a:ext cx="13258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AEB4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Second branch uses a different trajectory. Previous contribution remains as residue.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337560" y="3794760"/>
            <a:ext cx="7680960" cy="987552"/>
          </a:xfrm>
          <a:prstGeom prst="rect">
            <a:avLst/>
          </a:prstGeom>
          <a:solidFill>
            <a:srgbClr val="F3F5F2"/>
          </a:solidFill>
          <a:ln w="12700">
            <a:solidFill>
              <a:srgbClr val="F3F5F2">
                <a:alpha val="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337560" y="3794760"/>
            <a:ext cx="64008" cy="987552"/>
          </a:xfrm>
          <a:prstGeom prst="rect">
            <a:avLst/>
          </a:prstGeom>
          <a:solidFill>
            <a:srgbClr val="642832"/>
          </a:solidFill>
          <a:ln w="12700">
            <a:solidFill>
              <a:srgbClr val="642832">
                <a:alpha val="0"/>
              </a:srgbClr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474720" y="3886200"/>
            <a:ext cx="1766621" cy="217261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69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ILLUSTRATIVE RESPONSE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3474720" y="4105656"/>
            <a:ext cx="5069434" cy="43452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00" i="1" dirty="0">
                <a:solidFill>
                  <a:srgbClr val="0D0F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“I clarify responsibilities before committing work.”</a:t>
            </a:r>
            <a:endParaRPr lang="en-US" sz="1700" dirty="0"/>
          </a:p>
        </p:txBody>
      </p:sp>
      <p:sp>
        <p:nvSpPr>
          <p:cNvPr id="11" name="Text 9"/>
          <p:cNvSpPr txBox="1"/>
          <p:nvPr/>
        </p:nvSpPr>
        <p:spPr>
          <a:xfrm>
            <a:off x="9482328" y="3959352"/>
            <a:ext cx="1305763" cy="54315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69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 / ANSWER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5943600" y="3794760"/>
            <a:ext cx="-3840480" cy="-1920240"/>
          </a:xfrm>
          <a:prstGeom prst="line">
            <a:avLst/>
          </a:prstGeom>
          <a:noFill/>
          <a:ln w="27940">
            <a:solidFill>
              <a:srgbClr val="642832"/>
            </a:solidFill>
            <a:prstDash val="solid"/>
            <a:headEnd type="none"/>
            <a:tailEnd type="none"/>
          </a:ln>
        </p:spPr>
      </p:sp>
      <p:sp>
        <p:nvSpPr>
          <p:cNvPr id="13" name="Text 11"/>
          <p:cNvSpPr txBox="1"/>
          <p:nvPr/>
        </p:nvSpPr>
        <p:spPr>
          <a:xfrm>
            <a:off x="914400" y="10515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69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BIG FIVE</a:t>
            </a:r>
            <a:endParaRPr lang="en-US" sz="1000" dirty="0"/>
          </a:p>
        </p:txBody>
      </p:sp>
      <p:sp>
        <p:nvSpPr>
          <p:cNvPr id="14" name="Text 12"/>
          <p:cNvSpPr txBox="1"/>
          <p:nvPr/>
        </p:nvSpPr>
        <p:spPr>
          <a:xfrm>
            <a:off x="914400" y="1371600"/>
            <a:ext cx="2834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AEB4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conscientiousness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8138160" y="3794760"/>
            <a:ext cx="3200400" cy="-1828800"/>
          </a:xfrm>
          <a:prstGeom prst="line">
            <a:avLst/>
          </a:prstGeom>
          <a:noFill/>
          <a:ln w="27940">
            <a:solidFill>
              <a:srgbClr val="642832"/>
            </a:solidFill>
            <a:prstDash val="solid"/>
            <a:headEnd type="none"/>
            <a:tailEnd type="none"/>
          </a:ln>
        </p:spPr>
      </p:sp>
      <p:sp>
        <p:nvSpPr>
          <p:cNvPr id="16" name="Text 14"/>
          <p:cNvSpPr txBox="1"/>
          <p:nvPr/>
        </p:nvSpPr>
        <p:spPr>
          <a:xfrm>
            <a:off x="10972800" y="10789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AEB4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RIASEC</a:t>
            </a:r>
            <a:endParaRPr lang="en-US" sz="1000" dirty="0"/>
          </a:p>
        </p:txBody>
      </p:sp>
      <p:sp>
        <p:nvSpPr>
          <p:cNvPr id="17" name="Text 15"/>
          <p:cNvSpPr txBox="1"/>
          <p:nvPr/>
        </p:nvSpPr>
        <p:spPr>
          <a:xfrm>
            <a:off x="10332720" y="1417320"/>
            <a:ext cx="3566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2100" b="1" dirty="0">
                <a:solidFill>
                  <a:srgbClr val="F3F5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investigative / conventional</a:t>
            </a:r>
            <a:endParaRPr lang="en-US" sz="2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0F0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228600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3F5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Personality Assessor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7315200" y="228600"/>
            <a:ext cx="6812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00" dirty="0">
                <a:solidFill>
                  <a:srgbClr val="AEB4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it works   Career   Progress   Methodology   Trust   Sign in   Index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658368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AEB4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STATIC BOARD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502920" y="1005840"/>
            <a:ext cx="135331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3F5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Home / Branching / Frame 75</a:t>
            </a:r>
            <a:endParaRPr lang="en-US" sz="2600" dirty="0"/>
          </a:p>
        </p:txBody>
      </p:sp>
      <p:sp>
        <p:nvSpPr>
          <p:cNvPr id="6" name="Text 4"/>
          <p:cNvSpPr txBox="1"/>
          <p:nvPr/>
        </p:nvSpPr>
        <p:spPr>
          <a:xfrm>
            <a:off x="502920" y="1664208"/>
            <a:ext cx="13258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AEB4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 Values crosses documentary media; Career Signal extends farther.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337560" y="3657600"/>
            <a:ext cx="7680960" cy="987552"/>
          </a:xfrm>
          <a:prstGeom prst="rect">
            <a:avLst/>
          </a:prstGeom>
          <a:solidFill>
            <a:srgbClr val="F3F5F2"/>
          </a:solidFill>
          <a:ln w="12700">
            <a:solidFill>
              <a:srgbClr val="F3F5F2">
                <a:alpha val="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337560" y="3657600"/>
            <a:ext cx="64008" cy="987552"/>
          </a:xfrm>
          <a:prstGeom prst="rect">
            <a:avLst/>
          </a:prstGeom>
          <a:solidFill>
            <a:srgbClr val="642832"/>
          </a:solidFill>
          <a:ln w="12700">
            <a:solidFill>
              <a:srgbClr val="642832">
                <a:alpha val="0"/>
              </a:srgbClr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474720" y="3749040"/>
            <a:ext cx="1766621" cy="217261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69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ILLUSTRATIVE RESPONSE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3474720" y="3968496"/>
            <a:ext cx="5069434" cy="43452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00" i="1" dirty="0">
                <a:solidFill>
                  <a:srgbClr val="0D0F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“I clarify responsibilities before committing work.”</a:t>
            </a:r>
            <a:endParaRPr lang="en-US" sz="1700" dirty="0"/>
          </a:p>
        </p:txBody>
      </p:sp>
      <p:sp>
        <p:nvSpPr>
          <p:cNvPr id="11" name="Text 9"/>
          <p:cNvSpPr txBox="1"/>
          <p:nvPr/>
        </p:nvSpPr>
        <p:spPr>
          <a:xfrm>
            <a:off x="9482328" y="3822192"/>
            <a:ext cx="1305763" cy="54315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69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 / ANSWER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548640" y="5577840"/>
            <a:ext cx="3657600" cy="2286000"/>
          </a:xfrm>
          <a:prstGeom prst="rect">
            <a:avLst/>
          </a:prstGeom>
          <a:solidFill>
            <a:srgbClr val="313633"/>
          </a:solidFill>
          <a:ln w="12700">
            <a:solidFill>
              <a:srgbClr val="313633">
                <a:alpha val="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987552" y="5760720"/>
            <a:ext cx="804672" cy="1920240"/>
          </a:xfrm>
          <a:prstGeom prst="rect">
            <a:avLst/>
          </a:prstGeom>
          <a:solidFill>
            <a:srgbClr val="3C423E"/>
          </a:solidFill>
          <a:ln w="12700">
            <a:solidFill>
              <a:srgbClr val="3C423E">
                <a:alpha val="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975104" y="5989320"/>
            <a:ext cx="1755648" cy="1257300"/>
          </a:xfrm>
          <a:prstGeom prst="rect">
            <a:avLst/>
          </a:prstGeom>
          <a:solidFill>
            <a:srgbClr val="272C29"/>
          </a:solidFill>
          <a:ln w="12700">
            <a:solidFill>
              <a:srgbClr val="272C29">
                <a:alpha val="0"/>
              </a:srgbClr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94944" y="726948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3F5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careerDeepInquiry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694944" y="7543800"/>
            <a:ext cx="3291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AEB4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 Values context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4937760" y="4572000"/>
            <a:ext cx="-2103120" cy="1188720"/>
          </a:xfrm>
          <a:prstGeom prst="line">
            <a:avLst/>
          </a:prstGeom>
          <a:noFill/>
          <a:ln w="27940">
            <a:solidFill>
              <a:srgbClr val="642832"/>
            </a:solidFill>
            <a:prstDash val="solid"/>
            <a:headEnd type="none"/>
            <a:tailEnd type="none"/>
          </a:ln>
        </p:spPr>
      </p:sp>
      <p:sp>
        <p:nvSpPr>
          <p:cNvPr id="18" name="Text 16"/>
          <p:cNvSpPr txBox="1"/>
          <p:nvPr/>
        </p:nvSpPr>
        <p:spPr>
          <a:xfrm>
            <a:off x="640080" y="5074920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AEB4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 VALUES</a:t>
            </a:r>
            <a:endParaRPr lang="en-US" sz="900" dirty="0"/>
          </a:p>
        </p:txBody>
      </p:sp>
      <p:sp>
        <p:nvSpPr>
          <p:cNvPr id="19" name="Text 17"/>
          <p:cNvSpPr txBox="1"/>
          <p:nvPr/>
        </p:nvSpPr>
        <p:spPr>
          <a:xfrm>
            <a:off x="640080" y="7498080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3F5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independence / learning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9235440" y="4572000"/>
            <a:ext cx="3840480" cy="1920240"/>
          </a:xfrm>
          <a:prstGeom prst="line">
            <a:avLst/>
          </a:prstGeom>
          <a:noFill/>
          <a:ln w="27940">
            <a:solidFill>
              <a:srgbClr val="642832"/>
            </a:solidFill>
            <a:prstDash val="solid"/>
            <a:headEnd type="none"/>
            <a:tailEnd type="none"/>
          </a:ln>
        </p:spPr>
      </p:sp>
      <p:sp>
        <p:nvSpPr>
          <p:cNvPr id="21" name="Text 19"/>
          <p:cNvSpPr txBox="1"/>
          <p:nvPr/>
        </p:nvSpPr>
        <p:spPr>
          <a:xfrm>
            <a:off x="11384280" y="6583680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AEB4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CAREER SIGNAL</a:t>
            </a:r>
            <a:endParaRPr lang="en-US" sz="900" dirty="0"/>
          </a:p>
        </p:txBody>
      </p:sp>
      <p:sp>
        <p:nvSpPr>
          <p:cNvPr id="22" name="Text 20"/>
          <p:cNvSpPr txBox="1"/>
          <p:nvPr/>
        </p:nvSpPr>
        <p:spPr>
          <a:xfrm>
            <a:off x="10332720" y="699516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F3F5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ownership / planning</a:t>
            </a:r>
            <a:endParaRPr lang="en-US" sz="1800" dirty="0"/>
          </a:p>
        </p:txBody>
      </p:sp>
      <p:sp>
        <p:nvSpPr>
          <p:cNvPr id="23" name="Shape 21"/>
          <p:cNvSpPr/>
          <p:nvPr/>
        </p:nvSpPr>
        <p:spPr>
          <a:xfrm>
            <a:off x="5852160" y="3657600"/>
            <a:ext cx="-3840480" cy="-1828800"/>
          </a:xfrm>
          <a:prstGeom prst="line">
            <a:avLst/>
          </a:prstGeom>
          <a:noFill/>
          <a:ln w="17780">
            <a:solidFill>
              <a:srgbClr val="642832"/>
            </a:solidFill>
            <a:prstDash val="solid"/>
            <a:headEnd type="none"/>
            <a:tailEnd type="none"/>
          </a:ln>
        </p:spPr>
      </p:sp>
      <p:sp>
        <p:nvSpPr>
          <p:cNvPr id="24" name="Shape 22"/>
          <p:cNvSpPr/>
          <p:nvPr/>
        </p:nvSpPr>
        <p:spPr>
          <a:xfrm>
            <a:off x="8412480" y="3657600"/>
            <a:ext cx="3200400" cy="-1645920"/>
          </a:xfrm>
          <a:prstGeom prst="line">
            <a:avLst/>
          </a:prstGeom>
          <a:noFill/>
          <a:ln w="17780">
            <a:solidFill>
              <a:srgbClr val="642832"/>
            </a:solidFill>
            <a:prstDash val="solid"/>
            <a:headEnd type="none"/>
            <a:tailEnd type="none"/>
          </a:ln>
        </p:spPr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0F0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228600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3F5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Personality Assessor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7315200" y="228600"/>
            <a:ext cx="6812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00" dirty="0">
                <a:solidFill>
                  <a:srgbClr val="AEB4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it works   Career   Progress   Methodology   Trust   Sign in   Index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658368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AEB4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STATIC BOARD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502920" y="1005840"/>
            <a:ext cx="135331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3F5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Home / Branching / Frame 100</a:t>
            </a:r>
            <a:endParaRPr lang="en-US" sz="2600" dirty="0"/>
          </a:p>
        </p:txBody>
      </p:sp>
      <p:sp>
        <p:nvSpPr>
          <p:cNvPr id="6" name="Text 4"/>
          <p:cNvSpPr txBox="1"/>
          <p:nvPr/>
        </p:nvSpPr>
        <p:spPr>
          <a:xfrm>
            <a:off x="502920" y="1664208"/>
            <a:ext cx="13258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AEB4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contributions remain connected; source regains highest ownership.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337560" y="3657600"/>
            <a:ext cx="7680960" cy="987552"/>
          </a:xfrm>
          <a:prstGeom prst="rect">
            <a:avLst/>
          </a:prstGeom>
          <a:solidFill>
            <a:srgbClr val="F3F5F2"/>
          </a:solidFill>
          <a:ln w="12700">
            <a:solidFill>
              <a:srgbClr val="F3F5F2">
                <a:alpha val="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337560" y="3657600"/>
            <a:ext cx="64008" cy="987552"/>
          </a:xfrm>
          <a:prstGeom prst="rect">
            <a:avLst/>
          </a:prstGeom>
          <a:solidFill>
            <a:srgbClr val="642832"/>
          </a:solidFill>
          <a:ln w="12700">
            <a:solidFill>
              <a:srgbClr val="642832">
                <a:alpha val="0"/>
              </a:srgbClr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474720" y="3749040"/>
            <a:ext cx="1766621" cy="217261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69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ILLUSTRATIVE RESPONSE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3474720" y="3968496"/>
            <a:ext cx="5069434" cy="43452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00" i="1" dirty="0">
                <a:solidFill>
                  <a:srgbClr val="0D0F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“I clarify responsibilities before committing work.”</a:t>
            </a:r>
            <a:endParaRPr lang="en-US" sz="1700" dirty="0"/>
          </a:p>
        </p:txBody>
      </p:sp>
      <p:sp>
        <p:nvSpPr>
          <p:cNvPr id="11" name="Text 9"/>
          <p:cNvSpPr txBox="1"/>
          <p:nvPr/>
        </p:nvSpPr>
        <p:spPr>
          <a:xfrm>
            <a:off x="9482328" y="3822192"/>
            <a:ext cx="1305763" cy="54315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69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 / ANSWER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40080" y="5577840"/>
            <a:ext cx="3474720" cy="2103120"/>
          </a:xfrm>
          <a:prstGeom prst="rect">
            <a:avLst/>
          </a:prstGeom>
          <a:solidFill>
            <a:srgbClr val="313633"/>
          </a:solidFill>
          <a:ln w="12700">
            <a:solidFill>
              <a:srgbClr val="313633">
                <a:alpha val="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057046" y="5746090"/>
            <a:ext cx="764438" cy="1766621"/>
          </a:xfrm>
          <a:prstGeom prst="rect">
            <a:avLst/>
          </a:prstGeom>
          <a:solidFill>
            <a:srgbClr val="3C423E"/>
          </a:solidFill>
          <a:ln w="12700">
            <a:solidFill>
              <a:srgbClr val="3C423E">
                <a:alpha val="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995221" y="5956402"/>
            <a:ext cx="1667866" cy="1156716"/>
          </a:xfrm>
          <a:prstGeom prst="rect">
            <a:avLst/>
          </a:prstGeom>
          <a:solidFill>
            <a:srgbClr val="272C29"/>
          </a:solidFill>
          <a:ln w="12700">
            <a:solidFill>
              <a:srgbClr val="272C29">
                <a:alpha val="0"/>
              </a:srgbClr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779069" y="7134149"/>
            <a:ext cx="3127248" cy="25237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3F5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careerDeepInquiry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779069" y="7386523"/>
            <a:ext cx="3127248" cy="1682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AEB4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context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5852160" y="3657600"/>
            <a:ext cx="-3749040" cy="-1737360"/>
          </a:xfrm>
          <a:prstGeom prst="line">
            <a:avLst/>
          </a:prstGeom>
          <a:noFill/>
          <a:ln w="21590">
            <a:solidFill>
              <a:srgbClr val="642832"/>
            </a:solidFill>
            <a:prstDash val="solid"/>
            <a:headEnd type="none"/>
            <a:tailEnd type="none"/>
          </a:ln>
        </p:spPr>
      </p:sp>
      <p:sp>
        <p:nvSpPr>
          <p:cNvPr id="18" name="Shape 16"/>
          <p:cNvSpPr/>
          <p:nvPr/>
        </p:nvSpPr>
        <p:spPr>
          <a:xfrm>
            <a:off x="8412480" y="3657600"/>
            <a:ext cx="3108960" cy="-1645920"/>
          </a:xfrm>
          <a:prstGeom prst="line">
            <a:avLst/>
          </a:prstGeom>
          <a:noFill/>
          <a:ln w="21590">
            <a:solidFill>
              <a:srgbClr val="642832"/>
            </a:solidFill>
            <a:prstDash val="solid"/>
            <a:headEnd type="none"/>
            <a:tailEnd type="none"/>
          </a:ln>
        </p:spPr>
      </p:sp>
      <p:sp>
        <p:nvSpPr>
          <p:cNvPr id="19" name="Shape 17"/>
          <p:cNvSpPr/>
          <p:nvPr/>
        </p:nvSpPr>
        <p:spPr>
          <a:xfrm>
            <a:off x="4846320" y="4572000"/>
            <a:ext cx="-1920240" cy="1097280"/>
          </a:xfrm>
          <a:prstGeom prst="line">
            <a:avLst/>
          </a:prstGeom>
          <a:noFill/>
          <a:ln w="27940">
            <a:solidFill>
              <a:srgbClr val="642832"/>
            </a:solidFill>
            <a:prstDash val="solid"/>
            <a:headEnd type="none"/>
            <a:tailEnd type="none"/>
          </a:ln>
        </p:spPr>
      </p:sp>
      <p:sp>
        <p:nvSpPr>
          <p:cNvPr id="20" name="Shape 18"/>
          <p:cNvSpPr/>
          <p:nvPr/>
        </p:nvSpPr>
        <p:spPr>
          <a:xfrm>
            <a:off x="9235440" y="4572000"/>
            <a:ext cx="3657600" cy="1828800"/>
          </a:xfrm>
          <a:prstGeom prst="line">
            <a:avLst/>
          </a:prstGeom>
          <a:noFill/>
          <a:ln w="27940">
            <a:solidFill>
              <a:srgbClr val="642832"/>
            </a:solidFill>
            <a:prstDash val="solid"/>
            <a:headEnd type="none"/>
            <a:tailEnd type="none"/>
          </a:ln>
        </p:spPr>
      </p:sp>
      <p:sp>
        <p:nvSpPr>
          <p:cNvPr id="21" name="Text 19"/>
          <p:cNvSpPr txBox="1"/>
          <p:nvPr/>
        </p:nvSpPr>
        <p:spPr>
          <a:xfrm>
            <a:off x="731520" y="11887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AEB4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BIG FIVE</a:t>
            </a:r>
            <a:endParaRPr lang="en-US" sz="1000" dirty="0"/>
          </a:p>
        </p:txBody>
      </p:sp>
      <p:sp>
        <p:nvSpPr>
          <p:cNvPr id="22" name="Text 20"/>
          <p:cNvSpPr txBox="1"/>
          <p:nvPr/>
        </p:nvSpPr>
        <p:spPr>
          <a:xfrm>
            <a:off x="11521440" y="123444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AEB4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RIASEC</a:t>
            </a:r>
            <a:endParaRPr lang="en-US" sz="1000" dirty="0"/>
          </a:p>
        </p:txBody>
      </p:sp>
      <p:sp>
        <p:nvSpPr>
          <p:cNvPr id="23" name="Text 21"/>
          <p:cNvSpPr txBox="1"/>
          <p:nvPr/>
        </p:nvSpPr>
        <p:spPr>
          <a:xfrm>
            <a:off x="685800" y="772668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AEB4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 VALUES</a:t>
            </a:r>
            <a:endParaRPr lang="en-US" sz="1000" dirty="0"/>
          </a:p>
        </p:txBody>
      </p:sp>
      <p:sp>
        <p:nvSpPr>
          <p:cNvPr id="24" name="Text 22"/>
          <p:cNvSpPr txBox="1"/>
          <p:nvPr/>
        </p:nvSpPr>
        <p:spPr>
          <a:xfrm>
            <a:off x="11109960" y="749808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AEB4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CAREER SIGNAL</a:t>
            </a:r>
            <a:endParaRPr lang="en-US" sz="1000" dirty="0"/>
          </a:p>
        </p:txBody>
      </p:sp>
      <p:sp>
        <p:nvSpPr>
          <p:cNvPr id="25" name="Text 23"/>
          <p:cNvSpPr txBox="1"/>
          <p:nvPr/>
        </p:nvSpPr>
        <p:spPr>
          <a:xfrm>
            <a:off x="6217920" y="548640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428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 source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D0F0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228600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3F5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Personality Assessor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7315200" y="228600"/>
            <a:ext cx="6812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00" dirty="0">
                <a:solidFill>
                  <a:srgbClr val="AEB4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it works   Career   Progress   Methodology   Trust   Sign in   Index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658368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AEB4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STATIC BOARD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502920" y="1005840"/>
            <a:ext cx="135331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3F5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Home / Career World Takeover / Frame 0</a:t>
            </a:r>
            <a:endParaRPr lang="en-US" sz="2600" dirty="0"/>
          </a:p>
        </p:txBody>
      </p:sp>
      <p:sp>
        <p:nvSpPr>
          <p:cNvPr id="6" name="Text 4"/>
          <p:cNvSpPr txBox="1"/>
          <p:nvPr/>
        </p:nvSpPr>
        <p:spPr>
          <a:xfrm>
            <a:off x="502920" y="1664208"/>
            <a:ext cx="13258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AEB4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same record enters a professional environment. Environment starts to own the frame.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5943600" y="777240"/>
            <a:ext cx="8321040" cy="7680960"/>
          </a:xfrm>
          <a:prstGeom prst="rect">
            <a:avLst/>
          </a:prstGeom>
          <a:solidFill>
            <a:srgbClr val="313633"/>
          </a:solidFill>
          <a:ln w="12700">
            <a:solidFill>
              <a:srgbClr val="313633">
                <a:alpha val="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942125" y="1391717"/>
            <a:ext cx="1830629" cy="6452006"/>
          </a:xfrm>
          <a:prstGeom prst="rect">
            <a:avLst/>
          </a:prstGeom>
          <a:solidFill>
            <a:srgbClr val="3C423E"/>
          </a:solidFill>
          <a:ln w="12700">
            <a:solidFill>
              <a:srgbClr val="3C423E">
                <a:alpha val="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188806" y="2159813"/>
            <a:ext cx="3994099" cy="4224528"/>
          </a:xfrm>
          <a:prstGeom prst="rect">
            <a:avLst/>
          </a:prstGeom>
          <a:solidFill>
            <a:srgbClr val="272C29"/>
          </a:solidFill>
          <a:ln w="12700">
            <a:solidFill>
              <a:srgbClr val="272C29">
                <a:alpha val="0"/>
              </a:srgbClr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276442" y="6461150"/>
            <a:ext cx="7488936" cy="92171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3F5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careerComplexMachine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6276442" y="7382866"/>
            <a:ext cx="7488936" cy="61447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AEB4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complex problems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2194560" y="3794760"/>
            <a:ext cx="7132320" cy="960120"/>
          </a:xfrm>
          <a:prstGeom prst="rect">
            <a:avLst/>
          </a:prstGeom>
          <a:solidFill>
            <a:srgbClr val="F3F5F2"/>
          </a:solidFill>
          <a:ln w="12700">
            <a:solidFill>
              <a:srgbClr val="F3F5F2">
                <a:alpha val="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194560" y="3794760"/>
            <a:ext cx="64008" cy="960120"/>
          </a:xfrm>
          <a:prstGeom prst="rect">
            <a:avLst/>
          </a:prstGeom>
          <a:solidFill>
            <a:srgbClr val="642832"/>
          </a:solidFill>
          <a:ln w="12700">
            <a:solidFill>
              <a:srgbClr val="642832">
                <a:alpha val="0"/>
              </a:srgbClr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2331720" y="3886200"/>
            <a:ext cx="1640434" cy="21122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69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ILLUSTRATIVE RESPONSE</a:t>
            </a:r>
            <a:endParaRPr lang="en-US" sz="900" dirty="0"/>
          </a:p>
        </p:txBody>
      </p:sp>
      <p:sp>
        <p:nvSpPr>
          <p:cNvPr id="15" name="Text 13"/>
          <p:cNvSpPr txBox="1"/>
          <p:nvPr/>
        </p:nvSpPr>
        <p:spPr>
          <a:xfrm>
            <a:off x="2331720" y="4105656"/>
            <a:ext cx="4707331" cy="42245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00" i="1" dirty="0">
                <a:solidFill>
                  <a:srgbClr val="0D0F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“I clarify responsibilities before committing work.”</a:t>
            </a:r>
            <a:endParaRPr lang="en-US" sz="1700" dirty="0"/>
          </a:p>
        </p:txBody>
      </p:sp>
      <p:sp>
        <p:nvSpPr>
          <p:cNvPr id="16" name="Text 14"/>
          <p:cNvSpPr txBox="1"/>
          <p:nvPr/>
        </p:nvSpPr>
        <p:spPr>
          <a:xfrm>
            <a:off x="7900416" y="3959352"/>
            <a:ext cx="1212494" cy="52806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69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 source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7772400" y="4709160"/>
            <a:ext cx="1828800" cy="914400"/>
          </a:xfrm>
          <a:prstGeom prst="line">
            <a:avLst/>
          </a:prstGeom>
          <a:noFill/>
          <a:ln w="27940">
            <a:solidFill>
              <a:srgbClr val="642832"/>
            </a:solidFill>
            <a:prstDash val="solid"/>
            <a:headEnd type="none"/>
            <a:tailEnd type="none"/>
          </a:ln>
        </p:spPr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D0F0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228600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3F5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Personality Assessor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7315200" y="228600"/>
            <a:ext cx="6812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00" dirty="0">
                <a:solidFill>
                  <a:srgbClr val="AEB4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it works   Career   Progress   Methodology   Trust   Sign in   Index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658368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AEB4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STATIC BOARD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502920" y="1005840"/>
            <a:ext cx="135331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3F5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Home / Career World Takeover / Frame 50</a:t>
            </a:r>
            <a:endParaRPr lang="en-US" sz="2600" dirty="0"/>
          </a:p>
        </p:txBody>
      </p:sp>
      <p:sp>
        <p:nvSpPr>
          <p:cNvPr id="6" name="Text 4"/>
          <p:cNvSpPr txBox="1"/>
          <p:nvPr/>
        </p:nvSpPr>
        <p:spPr>
          <a:xfrm>
            <a:off x="502920" y="1664208"/>
            <a:ext cx="13258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AEB4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World replacement, not carousel travel. The record stays screen-stable.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011680" y="594360"/>
            <a:ext cx="11521440" cy="7680960"/>
          </a:xfrm>
          <a:prstGeom prst="rect">
            <a:avLst/>
          </a:prstGeom>
          <a:solidFill>
            <a:srgbClr val="313633"/>
          </a:solidFill>
          <a:ln w="12700">
            <a:solidFill>
              <a:srgbClr val="313633">
                <a:alpha val="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394253" y="1208837"/>
            <a:ext cx="2534717" cy="6452006"/>
          </a:xfrm>
          <a:prstGeom prst="rect">
            <a:avLst/>
          </a:prstGeom>
          <a:solidFill>
            <a:srgbClr val="3C423E"/>
          </a:solidFill>
          <a:ln w="12700">
            <a:solidFill>
              <a:srgbClr val="3C423E">
                <a:alpha val="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505042" y="1976933"/>
            <a:ext cx="5530291" cy="4224528"/>
          </a:xfrm>
          <a:prstGeom prst="rect">
            <a:avLst/>
          </a:prstGeom>
          <a:solidFill>
            <a:srgbClr val="272C29"/>
          </a:solidFill>
          <a:ln w="12700">
            <a:solidFill>
              <a:srgbClr val="272C29">
                <a:alpha val="0"/>
              </a:srgbClr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2472538" y="6278270"/>
            <a:ext cx="10369296" cy="92171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3F5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careerDeepInquiry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2472538" y="7199986"/>
            <a:ext cx="10369296" cy="61447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AEB4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 questions / long focus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182880" y="2011680"/>
            <a:ext cx="1828800" cy="4389120"/>
          </a:xfrm>
          <a:prstGeom prst="rect">
            <a:avLst/>
          </a:prstGeom>
          <a:solidFill>
            <a:srgbClr val="313633"/>
          </a:solidFill>
          <a:ln w="12700">
            <a:solidFill>
              <a:srgbClr val="313633">
                <a:alpha val="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02336" y="2362810"/>
            <a:ext cx="402336" cy="3686861"/>
          </a:xfrm>
          <a:prstGeom prst="rect">
            <a:avLst/>
          </a:prstGeom>
          <a:solidFill>
            <a:srgbClr val="3C423E"/>
          </a:solidFill>
          <a:ln w="12700">
            <a:solidFill>
              <a:srgbClr val="3C423E">
                <a:alpha val="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96112" y="2801722"/>
            <a:ext cx="877824" cy="2414016"/>
          </a:xfrm>
          <a:prstGeom prst="rect">
            <a:avLst/>
          </a:prstGeom>
          <a:solidFill>
            <a:srgbClr val="272C29"/>
          </a:solidFill>
          <a:ln w="12700">
            <a:solidFill>
              <a:srgbClr val="272C29">
                <a:alpha val="0"/>
              </a:srgbClr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256032" y="5259629"/>
            <a:ext cx="1645920" cy="52669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3F5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careerComplexMachine residue</a:t>
            </a:r>
            <a:endParaRPr lang="en-US" sz="900" dirty="0"/>
          </a:p>
        </p:txBody>
      </p:sp>
      <p:sp>
        <p:nvSpPr>
          <p:cNvPr id="16" name="Text 14"/>
          <p:cNvSpPr txBox="1"/>
          <p:nvPr/>
        </p:nvSpPr>
        <p:spPr>
          <a:xfrm>
            <a:off x="256032" y="5786323"/>
            <a:ext cx="1645920" cy="3511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AEB4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outgoing edge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5394960" y="5897880"/>
            <a:ext cx="6583680" cy="914400"/>
          </a:xfrm>
          <a:prstGeom prst="rect">
            <a:avLst/>
          </a:prstGeom>
          <a:solidFill>
            <a:srgbClr val="F3F5F2"/>
          </a:solidFill>
          <a:ln w="12700">
            <a:solidFill>
              <a:srgbClr val="F3F5F2">
                <a:alpha val="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394960" y="5897880"/>
            <a:ext cx="64008" cy="914400"/>
          </a:xfrm>
          <a:prstGeom prst="rect">
            <a:avLst/>
          </a:prstGeom>
          <a:solidFill>
            <a:srgbClr val="642832"/>
          </a:solidFill>
          <a:ln w="12700">
            <a:solidFill>
              <a:srgbClr val="642832">
                <a:alpha val="0"/>
              </a:srgbClr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5532120" y="5989320"/>
            <a:ext cx="151424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69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ILLUSTRATIVE RESPONSE</a:t>
            </a:r>
            <a:endParaRPr lang="en-US" sz="900" dirty="0"/>
          </a:p>
        </p:txBody>
      </p:sp>
      <p:sp>
        <p:nvSpPr>
          <p:cNvPr id="20" name="Text 18"/>
          <p:cNvSpPr txBox="1"/>
          <p:nvPr/>
        </p:nvSpPr>
        <p:spPr>
          <a:xfrm>
            <a:off x="5532120" y="6208776"/>
            <a:ext cx="4345229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00" i="1" dirty="0">
                <a:solidFill>
                  <a:srgbClr val="0D0F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“I clarify responsibilities before committing work.”</a:t>
            </a:r>
            <a:endParaRPr lang="en-US" sz="1700" dirty="0"/>
          </a:p>
        </p:txBody>
      </p:sp>
      <p:sp>
        <p:nvSpPr>
          <p:cNvPr id="21" name="Text 19"/>
          <p:cNvSpPr txBox="1"/>
          <p:nvPr/>
        </p:nvSpPr>
        <p:spPr>
          <a:xfrm>
            <a:off x="10661904" y="6062472"/>
            <a:ext cx="111922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69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 source / different conditions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D0F0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228600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3F5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Personality Assessor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7315200" y="228600"/>
            <a:ext cx="6812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00" dirty="0">
                <a:solidFill>
                  <a:srgbClr val="AEB4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it works   Career   Progress   Methodology   Trust   Sign in   Index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658368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AEB4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STATIC BOARD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502920" y="1005840"/>
            <a:ext cx="135331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3F5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Home / Career World Takeover / Frame 100</a:t>
            </a:r>
            <a:endParaRPr lang="en-US" sz="2600" dirty="0"/>
          </a:p>
        </p:txBody>
      </p:sp>
      <p:sp>
        <p:nvSpPr>
          <p:cNvPr id="6" name="Text 4"/>
          <p:cNvSpPr txBox="1"/>
          <p:nvPr/>
        </p:nvSpPr>
        <p:spPr>
          <a:xfrm>
            <a:off x="502920" y="1664208"/>
            <a:ext cx="13258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AEB4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Shared-decision world settles. CTA is inside the environment.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0" y="502920"/>
            <a:ext cx="14630400" cy="8046720"/>
          </a:xfrm>
          <a:prstGeom prst="rect">
            <a:avLst/>
          </a:prstGeom>
          <a:solidFill>
            <a:srgbClr val="313633"/>
          </a:solidFill>
          <a:ln w="12700">
            <a:solidFill>
              <a:srgbClr val="313633">
                <a:alpha val="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755648" y="1146658"/>
            <a:ext cx="3218688" cy="6759245"/>
          </a:xfrm>
          <a:prstGeom prst="rect">
            <a:avLst/>
          </a:prstGeom>
          <a:solidFill>
            <a:srgbClr val="3C423E"/>
          </a:solidFill>
          <a:ln w="12700">
            <a:solidFill>
              <a:srgbClr val="3C423E">
                <a:alpha val="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705856" y="1951330"/>
            <a:ext cx="7022592" cy="4425696"/>
          </a:xfrm>
          <a:prstGeom prst="rect">
            <a:avLst/>
          </a:prstGeom>
          <a:solidFill>
            <a:srgbClr val="272C29"/>
          </a:solidFill>
          <a:ln w="12700">
            <a:solidFill>
              <a:srgbClr val="272C29">
                <a:alpha val="0"/>
              </a:srgbClr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85216" y="6457493"/>
            <a:ext cx="13167360" cy="96560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3F5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careerCoordination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585216" y="7423099"/>
            <a:ext cx="13167360" cy="64373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AEB4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shared decisions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1828800" y="5943600"/>
            <a:ext cx="6766560" cy="914400"/>
          </a:xfrm>
          <a:prstGeom prst="rect">
            <a:avLst/>
          </a:prstGeom>
          <a:solidFill>
            <a:srgbClr val="F3F5F2"/>
          </a:solidFill>
          <a:ln w="12700">
            <a:solidFill>
              <a:srgbClr val="F3F5F2">
                <a:alpha val="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828800" y="5943600"/>
            <a:ext cx="64008" cy="914400"/>
          </a:xfrm>
          <a:prstGeom prst="rect">
            <a:avLst/>
          </a:prstGeom>
          <a:solidFill>
            <a:srgbClr val="642832"/>
          </a:solidFill>
          <a:ln w="12700">
            <a:solidFill>
              <a:srgbClr val="642832">
                <a:alpha val="0"/>
              </a:srgbClr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1965960" y="6035040"/>
            <a:ext cx="155630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69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ILLUSTRATIVE RESPONSE</a:t>
            </a:r>
            <a:endParaRPr lang="en-US" sz="900" dirty="0"/>
          </a:p>
        </p:txBody>
      </p:sp>
      <p:sp>
        <p:nvSpPr>
          <p:cNvPr id="15" name="Text 13"/>
          <p:cNvSpPr txBox="1"/>
          <p:nvPr/>
        </p:nvSpPr>
        <p:spPr>
          <a:xfrm>
            <a:off x="1965960" y="6254496"/>
            <a:ext cx="446593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00" i="1" dirty="0">
                <a:solidFill>
                  <a:srgbClr val="0D0F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“I clarify responsibilities before committing work.”</a:t>
            </a:r>
            <a:endParaRPr lang="en-US" sz="1700" dirty="0"/>
          </a:p>
        </p:txBody>
      </p:sp>
      <p:sp>
        <p:nvSpPr>
          <p:cNvPr id="16" name="Text 14"/>
          <p:cNvSpPr txBox="1"/>
          <p:nvPr/>
        </p:nvSpPr>
        <p:spPr>
          <a:xfrm>
            <a:off x="7242048" y="6108192"/>
            <a:ext cx="115031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69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 source / different conditions</a:t>
            </a:r>
            <a:endParaRPr lang="en-US" sz="900" dirty="0"/>
          </a:p>
        </p:txBody>
      </p:sp>
      <p:sp>
        <p:nvSpPr>
          <p:cNvPr id="17" name="Text 15"/>
          <p:cNvSpPr txBox="1"/>
          <p:nvPr/>
        </p:nvSpPr>
        <p:spPr>
          <a:xfrm>
            <a:off x="10789920" y="694944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F3F5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 career conditions</a:t>
            </a:r>
            <a:endParaRPr lang="en-US" sz="13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3F5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228600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D0F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Personality Assessor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7315200" y="228600"/>
            <a:ext cx="6812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00" dirty="0">
                <a:solidFill>
                  <a:srgbClr val="69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it works   Career   Progress   Methodology   Trust   Sign in   Index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658368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69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STATIC BOARD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502920" y="1005840"/>
            <a:ext cx="135331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D0F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Home / Calibration Quiet</a:t>
            </a:r>
            <a:endParaRPr lang="en-US" sz="2600" dirty="0"/>
          </a:p>
        </p:txBody>
      </p:sp>
      <p:sp>
        <p:nvSpPr>
          <p:cNvPr id="6" name="Text 4"/>
          <p:cNvSpPr txBox="1"/>
          <p:nvPr/>
        </p:nvSpPr>
        <p:spPr>
          <a:xfrm>
            <a:off x="502920" y="1664208"/>
            <a:ext cx="13258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69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 deterministic fit weights become visual material after spectacle.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594360" y="1097280"/>
            <a:ext cx="86868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0D0F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comparison is</a:t>
            </a:r>
            <a:endParaRPr lang="en-US" sz="4000" dirty="0"/>
          </a:p>
          <a:p>
            <a:pPr algn="l" indent="0" marL="0">
              <a:buNone/>
            </a:pPr>
            <a:r>
              <a:rPr lang="en-US" sz="4000" b="1" dirty="0">
                <a:solidFill>
                  <a:srgbClr val="0D0F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weighted, not guessed.</a:t>
            </a:r>
            <a:endParaRPr lang="en-US" sz="4000" dirty="0"/>
          </a:p>
        </p:txBody>
      </p:sp>
      <p:sp>
        <p:nvSpPr>
          <p:cNvPr id="8" name="Shape 6"/>
          <p:cNvSpPr/>
          <p:nvPr/>
        </p:nvSpPr>
        <p:spPr>
          <a:xfrm>
            <a:off x="914400" y="5486400"/>
            <a:ext cx="12710160" cy="0"/>
          </a:xfrm>
          <a:prstGeom prst="line">
            <a:avLst/>
          </a:prstGeom>
          <a:noFill/>
          <a:ln w="31750">
            <a:solidFill>
              <a:srgbClr val="642832"/>
            </a:solidFill>
            <a:prstDash val="solid"/>
            <a:headEnd type="none"/>
            <a:tailEnd type="none"/>
          </a:ln>
        </p:spPr>
      </p:sp>
      <p:sp>
        <p:nvSpPr>
          <p:cNvPr id="9" name="Text 7"/>
          <p:cNvSpPr txBox="1"/>
          <p:nvPr/>
        </p:nvSpPr>
        <p:spPr>
          <a:xfrm>
            <a:off x="1005840" y="4526280"/>
            <a:ext cx="640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6428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</a:t>
            </a:r>
            <a:endParaRPr lang="en-US" sz="2400" dirty="0"/>
          </a:p>
        </p:txBody>
      </p:sp>
      <p:sp>
        <p:nvSpPr>
          <p:cNvPr id="10" name="Text 8"/>
          <p:cNvSpPr txBox="1"/>
          <p:nvPr/>
        </p:nvSpPr>
        <p:spPr>
          <a:xfrm>
            <a:off x="1005840" y="507492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69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RIASEC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1005840" y="5486400"/>
            <a:ext cx="2194560" cy="0"/>
          </a:xfrm>
          <a:prstGeom prst="line">
            <a:avLst/>
          </a:prstGeom>
          <a:noFill/>
          <a:ln w="63500">
            <a:solidFill>
              <a:srgbClr val="0D0F0E"/>
            </a:solidFill>
            <a:prstDash val="solid"/>
            <a:headEnd type="none"/>
            <a:tailEnd type="none"/>
          </a:ln>
        </p:spPr>
      </p:sp>
      <p:sp>
        <p:nvSpPr>
          <p:cNvPr id="12" name="Text 10"/>
          <p:cNvSpPr txBox="1"/>
          <p:nvPr/>
        </p:nvSpPr>
        <p:spPr>
          <a:xfrm>
            <a:off x="3474720" y="4526280"/>
            <a:ext cx="640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6428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</a:t>
            </a:r>
            <a:endParaRPr lang="en-US" sz="2400" dirty="0"/>
          </a:p>
        </p:txBody>
      </p:sp>
      <p:sp>
        <p:nvSpPr>
          <p:cNvPr id="13" name="Text 11"/>
          <p:cNvSpPr txBox="1"/>
          <p:nvPr/>
        </p:nvSpPr>
        <p:spPr>
          <a:xfrm>
            <a:off x="3474720" y="507492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69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SKILLS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474720" y="5486400"/>
            <a:ext cx="2194560" cy="0"/>
          </a:xfrm>
          <a:prstGeom prst="line">
            <a:avLst/>
          </a:prstGeom>
          <a:noFill/>
          <a:ln w="63500">
            <a:solidFill>
              <a:srgbClr val="0D0F0E"/>
            </a:solidFill>
            <a:prstDash val="solid"/>
            <a:headEnd type="none"/>
            <a:tailEnd type="none"/>
          </a:ln>
        </p:spPr>
      </p:sp>
      <p:sp>
        <p:nvSpPr>
          <p:cNvPr id="15" name="Text 13"/>
          <p:cNvSpPr txBox="1"/>
          <p:nvPr/>
        </p:nvSpPr>
        <p:spPr>
          <a:xfrm>
            <a:off x="5989320" y="4526280"/>
            <a:ext cx="640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6428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</a:t>
            </a:r>
            <a:endParaRPr lang="en-US" sz="2400" dirty="0"/>
          </a:p>
        </p:txBody>
      </p:sp>
      <p:sp>
        <p:nvSpPr>
          <p:cNvPr id="16" name="Text 14"/>
          <p:cNvSpPr txBox="1"/>
          <p:nvPr/>
        </p:nvSpPr>
        <p:spPr>
          <a:xfrm>
            <a:off x="5989320" y="507492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69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 VALUES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5989320" y="5486400"/>
            <a:ext cx="1828800" cy="0"/>
          </a:xfrm>
          <a:prstGeom prst="line">
            <a:avLst/>
          </a:prstGeom>
          <a:noFill/>
          <a:ln w="63500">
            <a:solidFill>
              <a:srgbClr val="0D0F0E"/>
            </a:solidFill>
            <a:prstDash val="solid"/>
            <a:headEnd type="none"/>
            <a:tailEnd type="none"/>
          </a:ln>
        </p:spPr>
      </p:sp>
      <p:sp>
        <p:nvSpPr>
          <p:cNvPr id="18" name="Text 16"/>
          <p:cNvSpPr txBox="1"/>
          <p:nvPr/>
        </p:nvSpPr>
        <p:spPr>
          <a:xfrm>
            <a:off x="8229600" y="4526280"/>
            <a:ext cx="640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6428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2400" dirty="0"/>
          </a:p>
        </p:txBody>
      </p:sp>
      <p:sp>
        <p:nvSpPr>
          <p:cNvPr id="19" name="Text 17"/>
          <p:cNvSpPr txBox="1"/>
          <p:nvPr/>
        </p:nvSpPr>
        <p:spPr>
          <a:xfrm>
            <a:off x="8229600" y="507492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69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PERSONALITY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8229600" y="5486400"/>
            <a:ext cx="1463040" cy="0"/>
          </a:xfrm>
          <a:prstGeom prst="line">
            <a:avLst/>
          </a:prstGeom>
          <a:noFill/>
          <a:ln w="63500">
            <a:solidFill>
              <a:srgbClr val="0D0F0E"/>
            </a:solidFill>
            <a:prstDash val="solid"/>
            <a:headEnd type="none"/>
            <a:tailEnd type="none"/>
          </a:ln>
        </p:spPr>
      </p:sp>
      <p:sp>
        <p:nvSpPr>
          <p:cNvPr id="21" name="Text 19"/>
          <p:cNvSpPr txBox="1"/>
          <p:nvPr/>
        </p:nvSpPr>
        <p:spPr>
          <a:xfrm>
            <a:off x="10287000" y="4526280"/>
            <a:ext cx="640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6428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2400" dirty="0"/>
          </a:p>
        </p:txBody>
      </p:sp>
      <p:sp>
        <p:nvSpPr>
          <p:cNvPr id="22" name="Text 20"/>
          <p:cNvSpPr txBox="1"/>
          <p:nvPr/>
        </p:nvSpPr>
        <p:spPr>
          <a:xfrm>
            <a:off x="10287000" y="507492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69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EDUCATION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10287000" y="5486400"/>
            <a:ext cx="1005840" cy="0"/>
          </a:xfrm>
          <a:prstGeom prst="line">
            <a:avLst/>
          </a:prstGeom>
          <a:noFill/>
          <a:ln w="63500">
            <a:solidFill>
              <a:srgbClr val="0D0F0E"/>
            </a:solidFill>
            <a:prstDash val="solid"/>
            <a:headEnd type="none"/>
            <a:tailEnd type="none"/>
          </a:ln>
        </p:spPr>
      </p:sp>
      <p:sp>
        <p:nvSpPr>
          <p:cNvPr id="24" name="Text 22"/>
          <p:cNvSpPr txBox="1"/>
          <p:nvPr/>
        </p:nvSpPr>
        <p:spPr>
          <a:xfrm>
            <a:off x="12024360" y="4526280"/>
            <a:ext cx="640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6428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2400" dirty="0"/>
          </a:p>
        </p:txBody>
      </p:sp>
      <p:sp>
        <p:nvSpPr>
          <p:cNvPr id="25" name="Text 23"/>
          <p:cNvSpPr txBox="1"/>
          <p:nvPr/>
        </p:nvSpPr>
        <p:spPr>
          <a:xfrm>
            <a:off x="12024360" y="507492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69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GOALS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12024360" y="5486400"/>
            <a:ext cx="594360" cy="0"/>
          </a:xfrm>
          <a:prstGeom prst="line">
            <a:avLst/>
          </a:prstGeom>
          <a:noFill/>
          <a:ln w="63500">
            <a:solidFill>
              <a:srgbClr val="0D0F0E"/>
            </a:solidFill>
            <a:prstDash val="solid"/>
            <a:headEnd type="none"/>
            <a:tailEnd type="none"/>
          </a:ln>
        </p:spPr>
      </p:sp>
      <p:sp>
        <p:nvSpPr>
          <p:cNvPr id="27" name="Text 25"/>
          <p:cNvSpPr txBox="1"/>
          <p:nvPr/>
        </p:nvSpPr>
        <p:spPr>
          <a:xfrm>
            <a:off x="822960" y="790956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69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deterministic comparison layers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D0F0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228600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3F5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Personality Assessor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7315200" y="228600"/>
            <a:ext cx="6812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00" dirty="0">
                <a:solidFill>
                  <a:srgbClr val="AEB4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it works   Career   Progress   Methodology   Trust   Sign in   Index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658368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AEB4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STATIC BOARD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502920" y="1005840"/>
            <a:ext cx="135331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3F5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Home / Time Revisit / Frame 0</a:t>
            </a:r>
            <a:endParaRPr lang="en-US" sz="2600" dirty="0"/>
          </a:p>
        </p:txBody>
      </p:sp>
      <p:sp>
        <p:nvSpPr>
          <p:cNvPr id="6" name="Text 4"/>
          <p:cNvSpPr txBox="1"/>
          <p:nvPr/>
        </p:nvSpPr>
        <p:spPr>
          <a:xfrm>
            <a:off x="502920" y="1664208"/>
            <a:ext cx="13258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AEB4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Earlier record and environment establish longitudinal continuity.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0" y="960120"/>
            <a:ext cx="9144000" cy="7315200"/>
          </a:xfrm>
          <a:prstGeom prst="rect">
            <a:avLst/>
          </a:prstGeom>
          <a:solidFill>
            <a:srgbClr val="313633"/>
          </a:solidFill>
          <a:ln w="12700">
            <a:solidFill>
              <a:srgbClr val="313633">
                <a:alpha val="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97280" y="1545336"/>
            <a:ext cx="2011680" cy="6144768"/>
          </a:xfrm>
          <a:prstGeom prst="rect">
            <a:avLst/>
          </a:prstGeom>
          <a:solidFill>
            <a:srgbClr val="3C423E"/>
          </a:solidFill>
          <a:ln w="12700">
            <a:solidFill>
              <a:srgbClr val="3C423E">
                <a:alpha val="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566160" y="2276856"/>
            <a:ext cx="4389120" cy="4023360"/>
          </a:xfrm>
          <a:prstGeom prst="rect">
            <a:avLst/>
          </a:prstGeom>
          <a:solidFill>
            <a:srgbClr val="272C29"/>
          </a:solidFill>
          <a:ln w="12700">
            <a:solidFill>
              <a:srgbClr val="272C29">
                <a:alpha val="0"/>
              </a:srgbClr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365760" y="6373368"/>
            <a:ext cx="822960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3F5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progressStudio / crop A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365760" y="7251192"/>
            <a:ext cx="822960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AEB4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earlier context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1280160" y="5577840"/>
            <a:ext cx="6400800" cy="914400"/>
          </a:xfrm>
          <a:prstGeom prst="rect">
            <a:avLst/>
          </a:prstGeom>
          <a:solidFill>
            <a:srgbClr val="F3F5F2"/>
          </a:solidFill>
          <a:ln w="12700">
            <a:solidFill>
              <a:srgbClr val="F3F5F2">
                <a:alpha val="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280160" y="5577840"/>
            <a:ext cx="64008" cy="914400"/>
          </a:xfrm>
          <a:prstGeom prst="rect">
            <a:avLst/>
          </a:prstGeom>
          <a:solidFill>
            <a:srgbClr val="642832"/>
          </a:solidFill>
          <a:ln w="12700">
            <a:solidFill>
              <a:srgbClr val="642832">
                <a:alpha val="0"/>
              </a:srgbClr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1417320" y="5669280"/>
            <a:ext cx="14721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69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ILLUSTRATIVE RESPONSE</a:t>
            </a:r>
            <a:endParaRPr lang="en-US" sz="900" dirty="0"/>
          </a:p>
        </p:txBody>
      </p:sp>
      <p:sp>
        <p:nvSpPr>
          <p:cNvPr id="15" name="Text 13"/>
          <p:cNvSpPr txBox="1"/>
          <p:nvPr/>
        </p:nvSpPr>
        <p:spPr>
          <a:xfrm>
            <a:off x="1417320" y="5888736"/>
            <a:ext cx="422452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00" i="1" dirty="0">
                <a:solidFill>
                  <a:srgbClr val="0D0F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Earlier record</a:t>
            </a:r>
            <a:endParaRPr lang="en-US" sz="1700" dirty="0"/>
          </a:p>
        </p:txBody>
      </p:sp>
      <p:sp>
        <p:nvSpPr>
          <p:cNvPr id="16" name="Text 14"/>
          <p:cNvSpPr txBox="1"/>
          <p:nvPr/>
        </p:nvSpPr>
        <p:spPr>
          <a:xfrm>
            <a:off x="6400800" y="5742432"/>
            <a:ext cx="108813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69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ASSESSMENT 01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D0F0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228600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3F5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Personality Assessor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7315200" y="228600"/>
            <a:ext cx="6812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00" dirty="0">
                <a:solidFill>
                  <a:srgbClr val="AEB4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it works   Career   Progress   Methodology   Trust   Sign in   Index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658368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AEB4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STATIC BOARD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502920" y="1005840"/>
            <a:ext cx="135331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3F5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Home / Time Revisit / Frame 50</a:t>
            </a:r>
            <a:endParaRPr lang="en-US" sz="2600" dirty="0"/>
          </a:p>
        </p:txBody>
      </p:sp>
      <p:sp>
        <p:nvSpPr>
          <p:cNvPr id="6" name="Text 4"/>
          <p:cNvSpPr txBox="1"/>
          <p:nvPr/>
        </p:nvSpPr>
        <p:spPr>
          <a:xfrm>
            <a:off x="502920" y="1664208"/>
            <a:ext cx="13258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AEB4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Same-source crop B and a later record physically overlap the earlier state.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0" y="960120"/>
            <a:ext cx="8321040" cy="7315200"/>
          </a:xfrm>
          <a:prstGeom prst="rect">
            <a:avLst/>
          </a:prstGeom>
          <a:solidFill>
            <a:srgbClr val="313633"/>
          </a:solidFill>
          <a:ln w="12700">
            <a:solidFill>
              <a:srgbClr val="313633">
                <a:alpha val="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98525" y="1545336"/>
            <a:ext cx="1830629" cy="6144768"/>
          </a:xfrm>
          <a:prstGeom prst="rect">
            <a:avLst/>
          </a:prstGeom>
          <a:solidFill>
            <a:srgbClr val="3C423E"/>
          </a:solidFill>
          <a:ln w="12700">
            <a:solidFill>
              <a:srgbClr val="3C423E">
                <a:alpha val="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245206" y="2276856"/>
            <a:ext cx="3994099" cy="4023360"/>
          </a:xfrm>
          <a:prstGeom prst="rect">
            <a:avLst/>
          </a:prstGeom>
          <a:solidFill>
            <a:srgbClr val="272C29"/>
          </a:solidFill>
          <a:ln w="12700">
            <a:solidFill>
              <a:srgbClr val="272C29">
                <a:alpha val="0"/>
              </a:srgbClr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332842" y="6373368"/>
            <a:ext cx="7488936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3F5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progressStudio / crop A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332842" y="7251192"/>
            <a:ext cx="748893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AEB4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earlier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583680" y="502920"/>
            <a:ext cx="8046720" cy="7132320"/>
          </a:xfrm>
          <a:prstGeom prst="rect">
            <a:avLst/>
          </a:prstGeom>
          <a:solidFill>
            <a:srgbClr val="313633"/>
          </a:solidFill>
          <a:ln w="12700">
            <a:solidFill>
              <a:srgbClr val="313633">
                <a:alpha val="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549286" y="1073506"/>
            <a:ext cx="1770278" cy="5991149"/>
          </a:xfrm>
          <a:prstGeom prst="rect">
            <a:avLst/>
          </a:prstGeom>
          <a:solidFill>
            <a:srgbClr val="3C423E"/>
          </a:solidFill>
          <a:ln w="12700">
            <a:solidFill>
              <a:srgbClr val="3C423E">
                <a:alpha val="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9721901" y="1786738"/>
            <a:ext cx="3862426" cy="3922776"/>
          </a:xfrm>
          <a:prstGeom prst="rect">
            <a:avLst/>
          </a:prstGeom>
          <a:solidFill>
            <a:srgbClr val="272C29"/>
          </a:solidFill>
          <a:ln w="12700">
            <a:solidFill>
              <a:srgbClr val="272C29">
                <a:alpha val="0"/>
              </a:srgbClr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905549" y="5780837"/>
            <a:ext cx="7242048" cy="85587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3F5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progressStudio / crop B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6905549" y="6636715"/>
            <a:ext cx="7242048" cy="57058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AEB4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later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1005840" y="5852160"/>
            <a:ext cx="5852160" cy="868680"/>
          </a:xfrm>
          <a:prstGeom prst="rect">
            <a:avLst/>
          </a:prstGeom>
          <a:solidFill>
            <a:srgbClr val="F3F5F2"/>
          </a:solidFill>
          <a:ln w="12700">
            <a:solidFill>
              <a:srgbClr val="F3F5F2">
                <a:alpha val="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005840" y="5852160"/>
            <a:ext cx="64008" cy="868680"/>
          </a:xfrm>
          <a:prstGeom prst="rect">
            <a:avLst/>
          </a:prstGeom>
          <a:solidFill>
            <a:srgbClr val="642832"/>
          </a:solidFill>
          <a:ln w="12700">
            <a:solidFill>
              <a:srgbClr val="642832">
                <a:alpha val="0"/>
              </a:srgbClr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1143000" y="5943600"/>
            <a:ext cx="1345997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69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ILLUSTRATIVE RESPONSE</a:t>
            </a:r>
            <a:endParaRPr lang="en-US" sz="900" dirty="0"/>
          </a:p>
        </p:txBody>
      </p:sp>
      <p:sp>
        <p:nvSpPr>
          <p:cNvPr id="20" name="Text 18"/>
          <p:cNvSpPr txBox="1"/>
          <p:nvPr/>
        </p:nvSpPr>
        <p:spPr>
          <a:xfrm>
            <a:off x="1143000" y="6163056"/>
            <a:ext cx="3862426" cy="382219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00" i="1" dirty="0">
                <a:solidFill>
                  <a:srgbClr val="0D0F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Earlier record</a:t>
            </a:r>
            <a:endParaRPr lang="en-US" sz="1700" dirty="0"/>
          </a:p>
        </p:txBody>
      </p:sp>
      <p:sp>
        <p:nvSpPr>
          <p:cNvPr id="21" name="Text 19"/>
          <p:cNvSpPr txBox="1"/>
          <p:nvPr/>
        </p:nvSpPr>
        <p:spPr>
          <a:xfrm>
            <a:off x="5687568" y="6016752"/>
            <a:ext cx="994867" cy="47777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69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ASSESSMENT 01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6949440" y="1828800"/>
            <a:ext cx="5669280" cy="868680"/>
          </a:xfrm>
          <a:prstGeom prst="rect">
            <a:avLst/>
          </a:prstGeom>
          <a:solidFill>
            <a:srgbClr val="0D0F0E"/>
          </a:solidFill>
          <a:ln w="12700">
            <a:solidFill>
              <a:srgbClr val="0D0F0E">
                <a:alpha val="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949440" y="1828800"/>
            <a:ext cx="64008" cy="868680"/>
          </a:xfrm>
          <a:prstGeom prst="rect">
            <a:avLst/>
          </a:prstGeom>
          <a:solidFill>
            <a:srgbClr val="642832"/>
          </a:solidFill>
          <a:ln w="12700">
            <a:solidFill>
              <a:srgbClr val="642832">
                <a:alpha val="0"/>
              </a:srgbClr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7086600" y="1920240"/>
            <a:ext cx="1303934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AEB4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ILLUSTRATIVE RESPONSE</a:t>
            </a:r>
            <a:endParaRPr lang="en-US" sz="900" dirty="0"/>
          </a:p>
        </p:txBody>
      </p:sp>
      <p:sp>
        <p:nvSpPr>
          <p:cNvPr id="25" name="Text 23"/>
          <p:cNvSpPr txBox="1"/>
          <p:nvPr/>
        </p:nvSpPr>
        <p:spPr>
          <a:xfrm>
            <a:off x="7086600" y="2139696"/>
            <a:ext cx="3741725" cy="382219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00" i="1" dirty="0">
                <a:solidFill>
                  <a:srgbClr val="F3F5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Later record</a:t>
            </a:r>
            <a:endParaRPr lang="en-US" sz="1700" dirty="0"/>
          </a:p>
        </p:txBody>
      </p:sp>
      <p:sp>
        <p:nvSpPr>
          <p:cNvPr id="26" name="Text 24"/>
          <p:cNvSpPr txBox="1"/>
          <p:nvPr/>
        </p:nvSpPr>
        <p:spPr>
          <a:xfrm>
            <a:off x="11484864" y="1993392"/>
            <a:ext cx="963778" cy="47777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AEB4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ASSESSMENT 02</a:t>
            </a:r>
            <a:endParaRPr lang="en-US" sz="900" dirty="0"/>
          </a:p>
        </p:txBody>
      </p:sp>
      <p:sp>
        <p:nvSpPr>
          <p:cNvPr id="27" name="Text 25"/>
          <p:cNvSpPr txBox="1"/>
          <p:nvPr/>
        </p:nvSpPr>
        <p:spPr>
          <a:xfrm>
            <a:off x="5486400" y="4572000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6428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revised reading emerges here</a:t>
            </a:r>
            <a:endParaRPr lang="en-US" sz="16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D0F0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228600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3F5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Personality Assessor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7315200" y="228600"/>
            <a:ext cx="6812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00" dirty="0">
                <a:solidFill>
                  <a:srgbClr val="AEB4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it works   Career   Progress   Methodology   Trust   Sign in   Index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658368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AEB4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STATIC BOARD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502920" y="1005840"/>
            <a:ext cx="135331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3F5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Home / Time Revisit / Frame 100</a:t>
            </a:r>
            <a:endParaRPr lang="en-US" sz="2600" dirty="0"/>
          </a:p>
        </p:txBody>
      </p:sp>
      <p:sp>
        <p:nvSpPr>
          <p:cNvPr id="6" name="Text 4"/>
          <p:cNvSpPr txBox="1"/>
          <p:nvPr/>
        </p:nvSpPr>
        <p:spPr>
          <a:xfrm>
            <a:off x="502920" y="1664208"/>
            <a:ext cx="13258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AEB4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Both records remain inspectable. Trend relation appears without replacing history.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0" y="640080"/>
            <a:ext cx="14630400" cy="7863840"/>
          </a:xfrm>
          <a:prstGeom prst="rect">
            <a:avLst/>
          </a:prstGeom>
          <a:solidFill>
            <a:srgbClr val="313633"/>
          </a:solidFill>
          <a:ln w="12700">
            <a:solidFill>
              <a:srgbClr val="313633">
                <a:alpha val="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755648" y="1269187"/>
            <a:ext cx="3218688" cy="6605626"/>
          </a:xfrm>
          <a:prstGeom prst="rect">
            <a:avLst/>
          </a:prstGeom>
          <a:solidFill>
            <a:srgbClr val="3C423E"/>
          </a:solidFill>
          <a:ln w="12700">
            <a:solidFill>
              <a:srgbClr val="3C423E">
                <a:alpha val="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705856" y="2055571"/>
            <a:ext cx="7022592" cy="4325112"/>
          </a:xfrm>
          <a:prstGeom prst="rect">
            <a:avLst/>
          </a:prstGeom>
          <a:solidFill>
            <a:srgbClr val="272C29"/>
          </a:solidFill>
          <a:ln w="12700">
            <a:solidFill>
              <a:srgbClr val="272C29">
                <a:alpha val="0"/>
              </a:srgbClr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85216" y="6459322"/>
            <a:ext cx="13167360" cy="943661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3F5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progressStudio / double exposure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585216" y="7402982"/>
            <a:ext cx="13167360" cy="62910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AEB4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 source / different crop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914400" y="6035040"/>
            <a:ext cx="5669280" cy="841248"/>
          </a:xfrm>
          <a:prstGeom prst="rect">
            <a:avLst/>
          </a:prstGeom>
          <a:solidFill>
            <a:srgbClr val="F3F5F2"/>
          </a:solidFill>
          <a:ln w="12700">
            <a:solidFill>
              <a:srgbClr val="F3F5F2">
                <a:alpha val="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914400" y="6035040"/>
            <a:ext cx="64008" cy="841248"/>
          </a:xfrm>
          <a:prstGeom prst="rect">
            <a:avLst/>
          </a:prstGeom>
          <a:solidFill>
            <a:srgbClr val="642832"/>
          </a:solidFill>
          <a:ln w="12700">
            <a:solidFill>
              <a:srgbClr val="642832">
                <a:alpha val="0"/>
              </a:srgbClr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1051560" y="6126480"/>
            <a:ext cx="1303934" cy="18507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69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ILLUSTRATIVE RESPONSE</a:t>
            </a:r>
            <a:endParaRPr lang="en-US" sz="900" dirty="0"/>
          </a:p>
        </p:txBody>
      </p:sp>
      <p:sp>
        <p:nvSpPr>
          <p:cNvPr id="15" name="Text 13"/>
          <p:cNvSpPr txBox="1"/>
          <p:nvPr/>
        </p:nvSpPr>
        <p:spPr>
          <a:xfrm>
            <a:off x="1051560" y="6345936"/>
            <a:ext cx="3741725" cy="370149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00" i="1" dirty="0">
                <a:solidFill>
                  <a:srgbClr val="0D0F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Earlier record</a:t>
            </a:r>
            <a:endParaRPr lang="en-US" sz="1700" dirty="0"/>
          </a:p>
        </p:txBody>
      </p:sp>
      <p:sp>
        <p:nvSpPr>
          <p:cNvPr id="16" name="Text 14"/>
          <p:cNvSpPr txBox="1"/>
          <p:nvPr/>
        </p:nvSpPr>
        <p:spPr>
          <a:xfrm>
            <a:off x="5449824" y="6199632"/>
            <a:ext cx="963778" cy="46268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69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ASSESSMENT 01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7406640" y="1874520"/>
            <a:ext cx="5577840" cy="841248"/>
          </a:xfrm>
          <a:prstGeom prst="rect">
            <a:avLst/>
          </a:prstGeom>
          <a:solidFill>
            <a:srgbClr val="0D0F0E"/>
          </a:solidFill>
          <a:ln w="12700">
            <a:solidFill>
              <a:srgbClr val="0D0F0E">
                <a:alpha val="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406640" y="1874520"/>
            <a:ext cx="64008" cy="841248"/>
          </a:xfrm>
          <a:prstGeom prst="rect">
            <a:avLst/>
          </a:prstGeom>
          <a:solidFill>
            <a:srgbClr val="642832"/>
          </a:solidFill>
          <a:ln w="12700">
            <a:solidFill>
              <a:srgbClr val="642832">
                <a:alpha val="0"/>
              </a:srgbClr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7543800" y="1965960"/>
            <a:ext cx="1282903" cy="18507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AEB4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ILLUSTRATIVE RESPONSE</a:t>
            </a:r>
            <a:endParaRPr lang="en-US" sz="900" dirty="0"/>
          </a:p>
        </p:txBody>
      </p:sp>
      <p:sp>
        <p:nvSpPr>
          <p:cNvPr id="20" name="Text 18"/>
          <p:cNvSpPr txBox="1"/>
          <p:nvPr/>
        </p:nvSpPr>
        <p:spPr>
          <a:xfrm>
            <a:off x="7543800" y="2185416"/>
            <a:ext cx="3681374" cy="370149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00" i="1" dirty="0">
                <a:solidFill>
                  <a:srgbClr val="F3F5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Later record</a:t>
            </a:r>
            <a:endParaRPr lang="en-US" sz="1700" dirty="0"/>
          </a:p>
        </p:txBody>
      </p:sp>
      <p:sp>
        <p:nvSpPr>
          <p:cNvPr id="21" name="Text 19"/>
          <p:cNvSpPr txBox="1"/>
          <p:nvPr/>
        </p:nvSpPr>
        <p:spPr>
          <a:xfrm>
            <a:off x="11868912" y="2039112"/>
            <a:ext cx="948233" cy="46268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AEB4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ASSESSMENT 02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5212080" y="5989320"/>
            <a:ext cx="3291840" cy="-2926080"/>
          </a:xfrm>
          <a:prstGeom prst="line">
            <a:avLst/>
          </a:prstGeom>
          <a:noFill/>
          <a:ln w="27940">
            <a:solidFill>
              <a:srgbClr val="642832"/>
            </a:solidFill>
            <a:prstDash val="solid"/>
            <a:headEnd type="none"/>
            <a:tailEnd type="none"/>
          </a:ln>
        </p:spPr>
      </p:sp>
      <p:sp>
        <p:nvSpPr>
          <p:cNvPr id="23" name="Text 21"/>
          <p:cNvSpPr txBox="1"/>
          <p:nvPr/>
        </p:nvSpPr>
        <p:spPr>
          <a:xfrm>
            <a:off x="7406640" y="6080760"/>
            <a:ext cx="5943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3F5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later assessment adds a record.</a:t>
            </a:r>
            <a:endParaRPr lang="en-US" sz="2600" dirty="0"/>
          </a:p>
          <a:p>
            <a:pPr algn="l" indent="0" marL="0">
              <a:buNone/>
            </a:pPr>
            <a:r>
              <a:rPr lang="en-US" sz="2600" b="1" dirty="0">
                <a:solidFill>
                  <a:srgbClr val="F3F5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 does not erase the first.</a:t>
            </a:r>
            <a:endParaRPr lang="en-US" sz="26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D0F0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228600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3F5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Personality Assessor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7315200" y="228600"/>
            <a:ext cx="6812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00" dirty="0">
                <a:solidFill>
                  <a:srgbClr val="AEB4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it works   Career   Progress   Methodology   Trust   Sign in   Index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658368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AEB4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STATIC BOARD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502920" y="1005840"/>
            <a:ext cx="135331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3F5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Home / Traceback / Frame 0</a:t>
            </a:r>
            <a:endParaRPr lang="en-US" sz="2600" dirty="0"/>
          </a:p>
        </p:txBody>
      </p:sp>
      <p:sp>
        <p:nvSpPr>
          <p:cNvPr id="6" name="Text 4"/>
          <p:cNvSpPr txBox="1"/>
          <p:nvPr/>
        </p:nvSpPr>
        <p:spPr>
          <a:xfrm>
            <a:off x="502920" y="1664208"/>
            <a:ext cx="13258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AEB4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Human inspection world + enlarged record. Trust is an interaction, not a tab row.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0" y="502920"/>
            <a:ext cx="8412480" cy="8229600"/>
          </a:xfrm>
          <a:prstGeom prst="rect">
            <a:avLst/>
          </a:prstGeom>
          <a:solidFill>
            <a:srgbClr val="313633"/>
          </a:solidFill>
          <a:ln w="12700">
            <a:solidFill>
              <a:srgbClr val="313633">
                <a:alpha val="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09498" y="1161288"/>
            <a:ext cx="1850746" cy="6912864"/>
          </a:xfrm>
          <a:prstGeom prst="rect">
            <a:avLst/>
          </a:prstGeom>
          <a:solidFill>
            <a:srgbClr val="3C423E"/>
          </a:solidFill>
          <a:ln w="12700">
            <a:solidFill>
              <a:srgbClr val="3C423E">
                <a:alpha val="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280867" y="1984248"/>
            <a:ext cx="4037990" cy="4526280"/>
          </a:xfrm>
          <a:prstGeom prst="rect">
            <a:avLst/>
          </a:prstGeom>
          <a:solidFill>
            <a:srgbClr val="272C29"/>
          </a:solidFill>
          <a:ln w="12700">
            <a:solidFill>
              <a:srgbClr val="272C29">
                <a:alpha val="0"/>
              </a:srgbClr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336499" y="6592824"/>
            <a:ext cx="7571232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3F5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trustInspection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336499" y="7580376"/>
            <a:ext cx="757123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AEB4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human inspection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10058400" y="5120640"/>
            <a:ext cx="3200400" cy="2194560"/>
          </a:xfrm>
          <a:prstGeom prst="rect">
            <a:avLst/>
          </a:prstGeom>
          <a:solidFill>
            <a:srgbClr val="313633"/>
          </a:solidFill>
          <a:ln w="12700">
            <a:solidFill>
              <a:srgbClr val="313633">
                <a:alpha val="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0442448" y="5296205"/>
            <a:ext cx="704088" cy="1843430"/>
          </a:xfrm>
          <a:prstGeom prst="rect">
            <a:avLst/>
          </a:prstGeom>
          <a:solidFill>
            <a:srgbClr val="3C423E"/>
          </a:solidFill>
          <a:ln w="12700">
            <a:solidFill>
              <a:srgbClr val="3C423E">
                <a:alpha val="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1306556" y="5515661"/>
            <a:ext cx="1536192" cy="1207008"/>
          </a:xfrm>
          <a:prstGeom prst="rect">
            <a:avLst/>
          </a:prstGeom>
          <a:solidFill>
            <a:srgbClr val="272C29"/>
          </a:solidFill>
          <a:ln w="12700">
            <a:solidFill>
              <a:srgbClr val="272C29">
                <a:alpha val="0"/>
              </a:srgbClr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10186416" y="6744614"/>
            <a:ext cx="2880360" cy="26334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3F5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trustDiagnostic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10186416" y="7007962"/>
            <a:ext cx="2880360" cy="17556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AEB4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diagnostic detail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5852160" y="2468880"/>
            <a:ext cx="7315200" cy="1143000"/>
          </a:xfrm>
          <a:prstGeom prst="rect">
            <a:avLst/>
          </a:prstGeom>
          <a:solidFill>
            <a:srgbClr val="F3F5F2"/>
          </a:solidFill>
          <a:ln w="12700">
            <a:solidFill>
              <a:srgbClr val="F3F5F2">
                <a:alpha val="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852160" y="2468880"/>
            <a:ext cx="64008" cy="1143000"/>
          </a:xfrm>
          <a:prstGeom prst="rect">
            <a:avLst/>
          </a:prstGeom>
          <a:solidFill>
            <a:srgbClr val="642832"/>
          </a:solidFill>
          <a:ln w="12700">
            <a:solidFill>
              <a:srgbClr val="642832">
                <a:alpha val="0"/>
              </a:srgbClr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5989320" y="2560320"/>
            <a:ext cx="1682496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69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ILLUSTRATIVE RESPONSE</a:t>
            </a:r>
            <a:endParaRPr lang="en-US" sz="900" dirty="0"/>
          </a:p>
        </p:txBody>
      </p:sp>
      <p:sp>
        <p:nvSpPr>
          <p:cNvPr id="20" name="Text 18"/>
          <p:cNvSpPr txBox="1"/>
          <p:nvPr/>
        </p:nvSpPr>
        <p:spPr>
          <a:xfrm>
            <a:off x="5989320" y="2779776"/>
            <a:ext cx="482803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00" i="1" dirty="0">
                <a:solidFill>
                  <a:srgbClr val="0D0F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Reading assembled from retained evidence</a:t>
            </a:r>
            <a:endParaRPr lang="en-US" sz="1700" dirty="0"/>
          </a:p>
        </p:txBody>
      </p:sp>
      <p:sp>
        <p:nvSpPr>
          <p:cNvPr id="21" name="Text 19"/>
          <p:cNvSpPr txBox="1"/>
          <p:nvPr/>
        </p:nvSpPr>
        <p:spPr>
          <a:xfrm>
            <a:off x="11704320" y="2633472"/>
            <a:ext cx="1243584" cy="6286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69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TRACE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D0F0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228600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3F5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Personality Assessor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7315200" y="228600"/>
            <a:ext cx="6812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00" dirty="0">
                <a:solidFill>
                  <a:srgbClr val="AEB4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it works   Career   Progress   Methodology   Trust   Sign in   Index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658368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AEB4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STATIC BOARD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502920" y="1005840"/>
            <a:ext cx="135331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3F5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Home / Traceback / Frame 50</a:t>
            </a:r>
            <a:endParaRPr lang="en-US" sz="2600" dirty="0"/>
          </a:p>
        </p:txBody>
      </p:sp>
      <p:sp>
        <p:nvSpPr>
          <p:cNvPr id="6" name="Text 4"/>
          <p:cNvSpPr txBox="1"/>
          <p:nvPr/>
        </p:nvSpPr>
        <p:spPr>
          <a:xfrm>
            <a:off x="502920" y="1664208"/>
            <a:ext cx="13258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AEB4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record opens into raw provenance while the human world remains visible.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0" y="502920"/>
            <a:ext cx="7315200" cy="8229600"/>
          </a:xfrm>
          <a:prstGeom prst="rect">
            <a:avLst/>
          </a:prstGeom>
          <a:solidFill>
            <a:srgbClr val="313633"/>
          </a:solidFill>
          <a:ln w="12700">
            <a:solidFill>
              <a:srgbClr val="313633">
                <a:alpha val="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77824" y="1161288"/>
            <a:ext cx="1609344" cy="6912864"/>
          </a:xfrm>
          <a:prstGeom prst="rect">
            <a:avLst/>
          </a:prstGeom>
          <a:solidFill>
            <a:srgbClr val="3C423E"/>
          </a:solidFill>
          <a:ln w="12700">
            <a:solidFill>
              <a:srgbClr val="3C423E">
                <a:alpha val="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852928" y="1984248"/>
            <a:ext cx="3511296" cy="4526280"/>
          </a:xfrm>
          <a:prstGeom prst="rect">
            <a:avLst/>
          </a:prstGeom>
          <a:solidFill>
            <a:srgbClr val="272C29"/>
          </a:solidFill>
          <a:ln w="12700">
            <a:solidFill>
              <a:srgbClr val="272C29">
                <a:alpha val="0"/>
              </a:srgbClr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292608" y="6592824"/>
            <a:ext cx="658368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3F5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trustInspection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292608" y="7580376"/>
            <a:ext cx="6583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AEB4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human world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5486400" y="1600200"/>
            <a:ext cx="7498080" cy="1051560"/>
          </a:xfrm>
          <a:prstGeom prst="rect">
            <a:avLst/>
          </a:prstGeom>
          <a:solidFill>
            <a:srgbClr val="F3F5F2"/>
          </a:solidFill>
          <a:ln w="12700">
            <a:solidFill>
              <a:srgbClr val="F3F5F2">
                <a:alpha val="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486400" y="1600200"/>
            <a:ext cx="64008" cy="1051560"/>
          </a:xfrm>
          <a:prstGeom prst="rect">
            <a:avLst/>
          </a:prstGeom>
          <a:solidFill>
            <a:srgbClr val="642832"/>
          </a:solidFill>
          <a:ln w="12700">
            <a:solidFill>
              <a:srgbClr val="642832">
                <a:alpha val="0"/>
              </a:srgbClr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5623560" y="1691640"/>
            <a:ext cx="1724558" cy="23134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69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ILLUSTRATIVE RESPONSE</a:t>
            </a:r>
            <a:endParaRPr lang="en-US" sz="900" dirty="0"/>
          </a:p>
        </p:txBody>
      </p:sp>
      <p:sp>
        <p:nvSpPr>
          <p:cNvPr id="15" name="Text 13"/>
          <p:cNvSpPr txBox="1"/>
          <p:nvPr/>
        </p:nvSpPr>
        <p:spPr>
          <a:xfrm>
            <a:off x="5623560" y="1911096"/>
            <a:ext cx="4948733" cy="46268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00" i="1" dirty="0">
                <a:solidFill>
                  <a:srgbClr val="0D0F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Reading assembled from retained evidence</a:t>
            </a:r>
            <a:endParaRPr lang="en-US" sz="1700" dirty="0"/>
          </a:p>
        </p:txBody>
      </p:sp>
      <p:sp>
        <p:nvSpPr>
          <p:cNvPr id="16" name="Text 14"/>
          <p:cNvSpPr txBox="1"/>
          <p:nvPr/>
        </p:nvSpPr>
        <p:spPr>
          <a:xfrm>
            <a:off x="11484864" y="1764792"/>
            <a:ext cx="1274674" cy="57835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69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TRACE</a:t>
            </a:r>
            <a:endParaRPr lang="en-US" sz="900" dirty="0"/>
          </a:p>
        </p:txBody>
      </p:sp>
      <p:sp>
        <p:nvSpPr>
          <p:cNvPr id="17" name="Text 15"/>
          <p:cNvSpPr txBox="1"/>
          <p:nvPr/>
        </p:nvSpPr>
        <p:spPr>
          <a:xfrm>
            <a:off x="6400800" y="3063240"/>
            <a:ext cx="3657600" cy="4297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F3F5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</a:t>
            </a:r>
            <a:endParaRPr lang="en-US" sz="1800" dirty="0"/>
          </a:p>
          <a:p>
            <a:pPr algn="l" indent="0" marL="0">
              <a:buNone/>
            </a:pPr>
            <a:r>
              <a:rPr lang="en-US" sz="1800" dirty="0">
                <a:solidFill>
                  <a:srgbClr val="F3F5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answer</a:t>
            </a:r>
            <a:endParaRPr lang="en-US" sz="1800" dirty="0"/>
          </a:p>
          <a:p>
            <a:pPr algn="l" indent="0" marL="0">
              <a:buNone/>
            </a:pPr>
            <a:endParaRPr lang="en-US" sz="1800" dirty="0"/>
          </a:p>
          <a:p>
            <a:pPr algn="l" indent="0" marL="0">
              <a:buNone/>
            </a:pPr>
            <a:r>
              <a:rPr lang="en-US" sz="1800" dirty="0">
                <a:solidFill>
                  <a:srgbClr val="F3F5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 ID</a:t>
            </a:r>
            <a:endParaRPr lang="en-US" sz="1800" dirty="0"/>
          </a:p>
          <a:p>
            <a:pPr algn="l" indent="0" marL="0">
              <a:buNone/>
            </a:pPr>
            <a:r>
              <a:rPr lang="en-US" sz="1800" dirty="0">
                <a:solidFill>
                  <a:srgbClr val="F3F5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initiative-pattern-intermediate</a:t>
            </a:r>
            <a:endParaRPr lang="en-US" sz="1800" dirty="0"/>
          </a:p>
          <a:p>
            <a:pPr algn="l" indent="0" marL="0">
              <a:buNone/>
            </a:pPr>
            <a:endParaRPr lang="en-US" sz="1800" dirty="0"/>
          </a:p>
          <a:p>
            <a:pPr algn="l" indent="0" marL="0">
              <a:buNone/>
            </a:pPr>
            <a:r>
              <a:rPr lang="en-US" sz="1800" dirty="0">
                <a:solidFill>
                  <a:srgbClr val="F3F5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DIMENSION</a:t>
            </a:r>
            <a:endParaRPr lang="en-US" sz="1800" dirty="0"/>
          </a:p>
          <a:p>
            <a:pPr algn="l" indent="0" marL="0">
              <a:buNone/>
            </a:pPr>
            <a:r>
              <a:rPr lang="en-US" sz="1800" dirty="0">
                <a:solidFill>
                  <a:srgbClr val="F3F5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bigFive</a:t>
            </a:r>
            <a:endParaRPr lang="en-US" sz="1800" dirty="0"/>
          </a:p>
          <a:p>
            <a:pPr algn="l" indent="0" marL="0">
              <a:buNone/>
            </a:pPr>
            <a:endParaRPr lang="en-US" sz="1800" dirty="0"/>
          </a:p>
          <a:p>
            <a:pPr algn="l" indent="0" marL="0">
              <a:buNone/>
            </a:pPr>
            <a:r>
              <a:rPr lang="en-US" sz="1800" dirty="0">
                <a:solidFill>
                  <a:srgbClr val="F3F5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</a:t>
            </a:r>
            <a:endParaRPr lang="en-US" sz="1800" dirty="0"/>
          </a:p>
          <a:p>
            <a:pPr algn="l" indent="0" marL="0">
              <a:buNone/>
            </a:pPr>
            <a:r>
              <a:rPr lang="en-US" sz="1800" dirty="0">
                <a:solidFill>
                  <a:srgbClr val="F3F5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conscientiousness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5669280" y="2743200"/>
            <a:ext cx="-2377440" cy="2103120"/>
          </a:xfrm>
          <a:prstGeom prst="line">
            <a:avLst/>
          </a:prstGeom>
          <a:noFill/>
          <a:ln w="27940">
            <a:solidFill>
              <a:srgbClr val="642832"/>
            </a:solidFill>
            <a:prstDash val="solid"/>
            <a:headEnd type="none"/>
            <a:tailEnd type="none"/>
          </a:ln>
        </p:spPr>
      </p:sp>
      <p:sp>
        <p:nvSpPr>
          <p:cNvPr id="19" name="Shape 17"/>
          <p:cNvSpPr/>
          <p:nvPr/>
        </p:nvSpPr>
        <p:spPr>
          <a:xfrm>
            <a:off x="10515600" y="5303520"/>
            <a:ext cx="2743200" cy="2103120"/>
          </a:xfrm>
          <a:prstGeom prst="rect">
            <a:avLst/>
          </a:prstGeom>
          <a:solidFill>
            <a:srgbClr val="313633"/>
          </a:solidFill>
          <a:ln w="12700">
            <a:solidFill>
              <a:srgbClr val="313633">
                <a:alpha val="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0844784" y="5471770"/>
            <a:ext cx="603504" cy="1766621"/>
          </a:xfrm>
          <a:prstGeom prst="rect">
            <a:avLst/>
          </a:prstGeom>
          <a:solidFill>
            <a:srgbClr val="3C423E"/>
          </a:solidFill>
          <a:ln w="12700">
            <a:solidFill>
              <a:srgbClr val="3C423E">
                <a:alpha val="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1585448" y="5682082"/>
            <a:ext cx="1316736" cy="1156716"/>
          </a:xfrm>
          <a:prstGeom prst="rect">
            <a:avLst/>
          </a:prstGeom>
          <a:solidFill>
            <a:srgbClr val="272C29"/>
          </a:solidFill>
          <a:ln w="12700">
            <a:solidFill>
              <a:srgbClr val="272C29">
                <a:alpha val="0"/>
              </a:srgbClr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10625328" y="6859829"/>
            <a:ext cx="2468880" cy="25237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3F5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trustDiagnostic</a:t>
            </a:r>
            <a:endParaRPr lang="en-US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10625328" y="7112203"/>
            <a:ext cx="2468880" cy="1682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AEB4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raw inspection layer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D0F0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228600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3F5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Personality Assessor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7315200" y="228600"/>
            <a:ext cx="6812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00" dirty="0">
                <a:solidFill>
                  <a:srgbClr val="AEB4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it works   Career   Progress   Methodology   Trust   Sign in   Index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658368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AEB4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STATIC BOARD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502920" y="1005840"/>
            <a:ext cx="135331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3F5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Home / Finale</a:t>
            </a:r>
            <a:endParaRPr lang="en-US" sz="2600" dirty="0"/>
          </a:p>
        </p:txBody>
      </p:sp>
      <p:sp>
        <p:nvSpPr>
          <p:cNvPr id="6" name="Text 4"/>
          <p:cNvSpPr txBox="1"/>
          <p:nvPr/>
        </p:nvSpPr>
        <p:spPr>
          <a:xfrm>
            <a:off x="502920" y="1664208"/>
            <a:ext cx="13258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AEB4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Opening world returns with an accumulated record. Narrative resolves before footer.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0" y="914400"/>
            <a:ext cx="11521440" cy="7863840"/>
          </a:xfrm>
          <a:prstGeom prst="rect">
            <a:avLst/>
          </a:prstGeom>
          <a:solidFill>
            <a:srgbClr val="313633"/>
          </a:solidFill>
          <a:ln w="12700">
            <a:solidFill>
              <a:srgbClr val="313633">
                <a:alpha val="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382573" y="1543507"/>
            <a:ext cx="2534717" cy="6605626"/>
          </a:xfrm>
          <a:prstGeom prst="rect">
            <a:avLst/>
          </a:prstGeom>
          <a:solidFill>
            <a:srgbClr val="3C423E"/>
          </a:solidFill>
          <a:ln w="12700">
            <a:solidFill>
              <a:srgbClr val="3C423E">
                <a:alpha val="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493362" y="2329891"/>
            <a:ext cx="5530291" cy="4325112"/>
          </a:xfrm>
          <a:prstGeom prst="rect">
            <a:avLst/>
          </a:prstGeom>
          <a:solidFill>
            <a:srgbClr val="272C29"/>
          </a:solidFill>
          <a:ln w="12700">
            <a:solidFill>
              <a:srgbClr val="272C29">
                <a:alpha val="0"/>
              </a:srgbClr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60858" y="6733642"/>
            <a:ext cx="10369296" cy="943661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3F5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homeContext / finale crop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460858" y="7677302"/>
            <a:ext cx="10369296" cy="62910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AEB4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return to opening world</a:t>
            </a:r>
            <a:endParaRPr lang="en-US" sz="900" dirty="0"/>
          </a:p>
        </p:txBody>
      </p:sp>
      <p:sp>
        <p:nvSpPr>
          <p:cNvPr id="12" name="Text 10"/>
          <p:cNvSpPr txBox="1"/>
          <p:nvPr/>
        </p:nvSpPr>
        <p:spPr>
          <a:xfrm>
            <a:off x="7406640" y="1463040"/>
            <a:ext cx="64922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F3F5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source stays.</a:t>
            </a:r>
            <a:endParaRPr lang="en-US" sz="3800" dirty="0"/>
          </a:p>
          <a:p>
            <a:pPr algn="l" indent="0" marL="0">
              <a:buNone/>
            </a:pPr>
            <a:r>
              <a:rPr lang="en-US" sz="3800" b="1" dirty="0">
                <a:solidFill>
                  <a:srgbClr val="F3F5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record gets better.</a:t>
            </a:r>
            <a:endParaRPr lang="en-US" sz="3800" dirty="0"/>
          </a:p>
        </p:txBody>
      </p:sp>
      <p:sp>
        <p:nvSpPr>
          <p:cNvPr id="13" name="Shape 11"/>
          <p:cNvSpPr/>
          <p:nvPr/>
        </p:nvSpPr>
        <p:spPr>
          <a:xfrm>
            <a:off x="5303520" y="5989320"/>
            <a:ext cx="7315200" cy="960120"/>
          </a:xfrm>
          <a:prstGeom prst="rect">
            <a:avLst/>
          </a:prstGeom>
          <a:solidFill>
            <a:srgbClr val="F3F5F2"/>
          </a:solidFill>
          <a:ln w="12700">
            <a:solidFill>
              <a:srgbClr val="F3F5F2">
                <a:alpha val="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303520" y="5989320"/>
            <a:ext cx="64008" cy="960120"/>
          </a:xfrm>
          <a:prstGeom prst="rect">
            <a:avLst/>
          </a:prstGeom>
          <a:solidFill>
            <a:srgbClr val="642832"/>
          </a:solidFill>
          <a:ln w="12700">
            <a:solidFill>
              <a:srgbClr val="642832">
                <a:alpha val="0"/>
              </a:srgbClr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5440680" y="6080760"/>
            <a:ext cx="1682496" cy="21122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69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ILLUSTRATIVE RESPONSE</a:t>
            </a:r>
            <a:endParaRPr lang="en-US" sz="900" dirty="0"/>
          </a:p>
        </p:txBody>
      </p:sp>
      <p:sp>
        <p:nvSpPr>
          <p:cNvPr id="16" name="Text 14"/>
          <p:cNvSpPr txBox="1"/>
          <p:nvPr/>
        </p:nvSpPr>
        <p:spPr>
          <a:xfrm>
            <a:off x="5440680" y="6300216"/>
            <a:ext cx="4828032" cy="42245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00" i="1" dirty="0">
                <a:solidFill>
                  <a:srgbClr val="0D0F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“I clarify responsibilities before committing work.”</a:t>
            </a:r>
            <a:endParaRPr lang="en-US" sz="1700" dirty="0"/>
          </a:p>
        </p:txBody>
      </p:sp>
      <p:sp>
        <p:nvSpPr>
          <p:cNvPr id="17" name="Text 15"/>
          <p:cNvSpPr txBox="1"/>
          <p:nvPr/>
        </p:nvSpPr>
        <p:spPr>
          <a:xfrm>
            <a:off x="11155680" y="6153912"/>
            <a:ext cx="1243584" cy="52806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69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 + EVIDENCE + DATE + TRACE</a:t>
            </a:r>
            <a:endParaRPr lang="en-US" sz="900" dirty="0"/>
          </a:p>
        </p:txBody>
      </p:sp>
      <p:sp>
        <p:nvSpPr>
          <p:cNvPr id="18" name="Text 16"/>
          <p:cNvSpPr txBox="1"/>
          <p:nvPr/>
        </p:nvSpPr>
        <p:spPr>
          <a:xfrm>
            <a:off x="10789920" y="745236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3F5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 profile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8961120" y="7452360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AEB4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Sign in</a:t>
            </a:r>
            <a:endParaRPr lang="en-US" sz="11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0D0F0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228600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3F5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Personality Assessor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7315200" y="228600"/>
            <a:ext cx="6812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00" dirty="0">
                <a:solidFill>
                  <a:srgbClr val="AEB4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it works   Career   Progress   Methodology   Trust   Sign in   Index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658368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AEB4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STATIC BOARD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502920" y="1005840"/>
            <a:ext cx="135331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3F5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Career / Workworld Atlas</a:t>
            </a:r>
            <a:endParaRPr lang="en-US" sz="2600" dirty="0"/>
          </a:p>
        </p:txBody>
      </p:sp>
      <p:sp>
        <p:nvSpPr>
          <p:cNvPr id="6" name="Text 4"/>
          <p:cNvSpPr txBox="1"/>
          <p:nvPr/>
        </p:nvSpPr>
        <p:spPr>
          <a:xfrm>
            <a:off x="502920" y="1664208"/>
            <a:ext cx="13258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AEB4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 inside a world. Media is selector; index is secondary.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0" y="502920"/>
            <a:ext cx="14630400" cy="8229600"/>
          </a:xfrm>
          <a:prstGeom prst="rect">
            <a:avLst/>
          </a:prstGeom>
          <a:solidFill>
            <a:srgbClr val="313633"/>
          </a:solidFill>
          <a:ln w="12700">
            <a:solidFill>
              <a:srgbClr val="313633">
                <a:alpha val="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755648" y="1161288"/>
            <a:ext cx="3218688" cy="6912864"/>
          </a:xfrm>
          <a:prstGeom prst="rect">
            <a:avLst/>
          </a:prstGeom>
          <a:solidFill>
            <a:srgbClr val="3C423E"/>
          </a:solidFill>
          <a:ln w="12700">
            <a:solidFill>
              <a:srgbClr val="3C423E">
                <a:alpha val="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705856" y="1984248"/>
            <a:ext cx="7022592" cy="4526280"/>
          </a:xfrm>
          <a:prstGeom prst="rect">
            <a:avLst/>
          </a:prstGeom>
          <a:solidFill>
            <a:srgbClr val="272C29"/>
          </a:solidFill>
          <a:ln w="12700">
            <a:solidFill>
              <a:srgbClr val="272C29">
                <a:alpha val="0"/>
              </a:srgbClr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85216" y="6592824"/>
            <a:ext cx="1316736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3F5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careerComplexMachine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585216" y="7580376"/>
            <a:ext cx="13167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AEB4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active world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10241280" y="1280160"/>
            <a:ext cx="3383280" cy="2194560"/>
          </a:xfrm>
          <a:prstGeom prst="rect">
            <a:avLst/>
          </a:prstGeom>
          <a:solidFill>
            <a:srgbClr val="313633"/>
          </a:solidFill>
          <a:ln w="12700">
            <a:solidFill>
              <a:srgbClr val="313633">
                <a:alpha val="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0647274" y="1455725"/>
            <a:ext cx="744322" cy="1843430"/>
          </a:xfrm>
          <a:prstGeom prst="rect">
            <a:avLst/>
          </a:prstGeom>
          <a:solidFill>
            <a:srgbClr val="3C423E"/>
          </a:solidFill>
          <a:ln w="12700">
            <a:solidFill>
              <a:srgbClr val="3C423E">
                <a:alpha val="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1560759" y="1675181"/>
            <a:ext cx="1623974" cy="1207008"/>
          </a:xfrm>
          <a:prstGeom prst="rect">
            <a:avLst/>
          </a:prstGeom>
          <a:solidFill>
            <a:srgbClr val="272C29"/>
          </a:solidFill>
          <a:ln w="12700">
            <a:solidFill>
              <a:srgbClr val="272C29">
                <a:alpha val="0"/>
              </a:srgbClr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10376611" y="2904134"/>
            <a:ext cx="3044952" cy="26334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80" b="1" dirty="0">
                <a:solidFill>
                  <a:srgbClr val="F3F5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careerControl</a:t>
            </a:r>
            <a:endParaRPr lang="en-US" sz="1480" dirty="0"/>
          </a:p>
        </p:txBody>
      </p:sp>
      <p:sp>
        <p:nvSpPr>
          <p:cNvPr id="16" name="Text 14"/>
          <p:cNvSpPr txBox="1"/>
          <p:nvPr/>
        </p:nvSpPr>
        <p:spPr>
          <a:xfrm>
            <a:off x="10376611" y="3167482"/>
            <a:ext cx="3044952" cy="17556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AEB4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support detail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914400" y="6126480"/>
            <a:ext cx="6583680" cy="914400"/>
          </a:xfrm>
          <a:prstGeom prst="rect">
            <a:avLst/>
          </a:prstGeom>
          <a:solidFill>
            <a:srgbClr val="F3F5F2"/>
          </a:solidFill>
          <a:ln w="12700">
            <a:solidFill>
              <a:srgbClr val="F3F5F2">
                <a:alpha val="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14400" y="6126480"/>
            <a:ext cx="64008" cy="914400"/>
          </a:xfrm>
          <a:prstGeom prst="rect">
            <a:avLst/>
          </a:prstGeom>
          <a:solidFill>
            <a:srgbClr val="642832"/>
          </a:solidFill>
          <a:ln w="12700">
            <a:solidFill>
              <a:srgbClr val="642832">
                <a:alpha val="0"/>
              </a:srgbClr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1051560" y="6217920"/>
            <a:ext cx="151424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69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ILLUSTRATIVE RESPONSE</a:t>
            </a:r>
            <a:endParaRPr lang="en-US" sz="900" dirty="0"/>
          </a:p>
        </p:txBody>
      </p:sp>
      <p:sp>
        <p:nvSpPr>
          <p:cNvPr id="20" name="Text 18"/>
          <p:cNvSpPr txBox="1"/>
          <p:nvPr/>
        </p:nvSpPr>
        <p:spPr>
          <a:xfrm>
            <a:off x="1051560" y="6437376"/>
            <a:ext cx="4345229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00" i="1" dirty="0">
                <a:solidFill>
                  <a:srgbClr val="0D0F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Retained source</a:t>
            </a:r>
            <a:endParaRPr lang="en-US" sz="1700" dirty="0"/>
          </a:p>
        </p:txBody>
      </p:sp>
      <p:sp>
        <p:nvSpPr>
          <p:cNvPr id="21" name="Text 19"/>
          <p:cNvSpPr txBox="1"/>
          <p:nvPr/>
        </p:nvSpPr>
        <p:spPr>
          <a:xfrm>
            <a:off x="6181344" y="6291072"/>
            <a:ext cx="111922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69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CURRENT RECORD</a:t>
            </a:r>
            <a:endParaRPr lang="en-US" sz="900" dirty="0"/>
          </a:p>
        </p:txBody>
      </p:sp>
      <p:sp>
        <p:nvSpPr>
          <p:cNvPr id="22" name="Text 20"/>
          <p:cNvSpPr txBox="1"/>
          <p:nvPr/>
        </p:nvSpPr>
        <p:spPr>
          <a:xfrm>
            <a:off x="731520" y="1143000"/>
            <a:ext cx="5303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3100" b="1" dirty="0">
                <a:solidFill>
                  <a:srgbClr val="F3F5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Complex problems</a:t>
            </a:r>
            <a:endParaRPr lang="en-US" sz="3100" dirty="0"/>
          </a:p>
        </p:txBody>
      </p:sp>
      <p:sp>
        <p:nvSpPr>
          <p:cNvPr id="23" name="Text 21"/>
          <p:cNvSpPr txBox="1"/>
          <p:nvPr/>
        </p:nvSpPr>
        <p:spPr>
          <a:xfrm>
            <a:off x="10972800" y="3840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200" dirty="0">
                <a:solidFill>
                  <a:srgbClr val="AEB4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 Complex problems</a:t>
            </a:r>
            <a:endParaRPr lang="en-US" sz="1200" dirty="0"/>
          </a:p>
          <a:p>
            <a:pPr algn="r" indent="0" marL="0">
              <a:buNone/>
            </a:pPr>
            <a:r>
              <a:rPr lang="en-US" sz="1200" dirty="0">
                <a:solidFill>
                  <a:srgbClr val="AEB4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 Open questions</a:t>
            </a:r>
            <a:endParaRPr lang="en-US" sz="1200" dirty="0"/>
          </a:p>
          <a:p>
            <a:pPr algn="r" indent="0" marL="0">
              <a:buNone/>
            </a:pPr>
            <a:r>
              <a:rPr lang="en-US" sz="1200" dirty="0">
                <a:solidFill>
                  <a:srgbClr val="AEB4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 Shared decisions</a:t>
            </a:r>
            <a:endParaRPr lang="en-US" sz="1200" dirty="0"/>
          </a:p>
          <a:p>
            <a:pPr algn="r" indent="0" marL="0">
              <a:buNone/>
            </a:pPr>
            <a:r>
              <a:rPr lang="en-US" sz="1200" dirty="0">
                <a:solidFill>
                  <a:srgbClr val="AEB4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 Visible output</a:t>
            </a:r>
            <a:endParaRPr lang="en-US" sz="1200" dirty="0"/>
          </a:p>
          <a:p>
            <a:pPr algn="r" indent="0" marL="0">
              <a:buNone/>
            </a:pPr>
            <a:r>
              <a:rPr lang="en-US" sz="1200" dirty="0">
                <a:solidFill>
                  <a:srgbClr val="AEB4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 Autonomy</a:t>
            </a:r>
            <a:endParaRPr lang="en-US" sz="12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0D0F0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228600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3F5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Personality Assessor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7315200" y="228600"/>
            <a:ext cx="6812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00" dirty="0">
                <a:solidFill>
                  <a:srgbClr val="AEB4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it works   Career   Progress   Methodology   Trust   Sign in   Index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658368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AEB4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STATIC BOARD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502920" y="1005840"/>
            <a:ext cx="135331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3F5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It Works / Evidence Engine</a:t>
            </a:r>
            <a:endParaRPr lang="en-US" sz="2600" dirty="0"/>
          </a:p>
        </p:txBody>
      </p:sp>
      <p:sp>
        <p:nvSpPr>
          <p:cNvPr id="6" name="Text 4"/>
          <p:cNvSpPr txBox="1"/>
          <p:nvPr/>
        </p:nvSpPr>
        <p:spPr>
          <a:xfrm>
            <a:off x="502920" y="1664208"/>
            <a:ext cx="13258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AEB4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question moves through the actual product pipeline. No numbered marketing cards.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1005840"/>
            <a:ext cx="84124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F3F5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“Describe how you take initiative</a:t>
            </a:r>
            <a:endParaRPr lang="en-US" sz="3400" dirty="0"/>
          </a:p>
          <a:p>
            <a:pPr algn="l" indent="0" marL="0">
              <a:buNone/>
            </a:pPr>
            <a:r>
              <a:rPr lang="en-US" sz="3400" b="1" dirty="0">
                <a:solidFill>
                  <a:srgbClr val="F3F5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when a project has unclear ownership.”</a:t>
            </a:r>
            <a:endParaRPr lang="en-US" sz="3400" dirty="0"/>
          </a:p>
        </p:txBody>
      </p:sp>
      <p:sp>
        <p:nvSpPr>
          <p:cNvPr id="8" name="Shape 6"/>
          <p:cNvSpPr/>
          <p:nvPr/>
        </p:nvSpPr>
        <p:spPr>
          <a:xfrm>
            <a:off x="9509760" y="731520"/>
            <a:ext cx="4663440" cy="2926080"/>
          </a:xfrm>
          <a:prstGeom prst="rect">
            <a:avLst/>
          </a:prstGeom>
          <a:solidFill>
            <a:srgbClr val="313633"/>
          </a:solidFill>
          <a:ln w="12700">
            <a:solidFill>
              <a:srgbClr val="313633">
                <a:alpha val="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0069373" y="965606"/>
            <a:ext cx="1025957" cy="2457907"/>
          </a:xfrm>
          <a:prstGeom prst="rect">
            <a:avLst/>
          </a:prstGeom>
          <a:solidFill>
            <a:srgbClr val="3C423E"/>
          </a:solidFill>
          <a:ln w="12700">
            <a:solidFill>
              <a:srgbClr val="3C423E">
                <a:alpha val="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1328502" y="1258214"/>
            <a:ext cx="2238451" cy="1609344"/>
          </a:xfrm>
          <a:prstGeom prst="rect">
            <a:avLst/>
          </a:prstGeom>
          <a:solidFill>
            <a:srgbClr val="272C29"/>
          </a:solidFill>
          <a:ln w="12700">
            <a:solidFill>
              <a:srgbClr val="272C29">
                <a:alpha val="0"/>
              </a:srgbClr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96298" y="2896819"/>
            <a:ext cx="4197096" cy="3511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3F5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howProcess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9696298" y="3247949"/>
            <a:ext cx="4197096" cy="23408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AEB4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professional process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4114800" y="3017520"/>
            <a:ext cx="6583680" cy="914400"/>
          </a:xfrm>
          <a:prstGeom prst="rect">
            <a:avLst/>
          </a:prstGeom>
          <a:solidFill>
            <a:srgbClr val="F3F5F2"/>
          </a:solidFill>
          <a:ln w="12700">
            <a:solidFill>
              <a:srgbClr val="F3F5F2">
                <a:alpha val="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114800" y="3017520"/>
            <a:ext cx="64008" cy="914400"/>
          </a:xfrm>
          <a:prstGeom prst="rect">
            <a:avLst/>
          </a:prstGeom>
          <a:solidFill>
            <a:srgbClr val="642832"/>
          </a:solidFill>
          <a:ln w="12700">
            <a:solidFill>
              <a:srgbClr val="642832">
                <a:alpha val="0"/>
              </a:srgbClr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4251960" y="3108960"/>
            <a:ext cx="151424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69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ILLUSTRATIVE RESPONSE</a:t>
            </a:r>
            <a:endParaRPr lang="en-US" sz="900" dirty="0"/>
          </a:p>
        </p:txBody>
      </p:sp>
      <p:sp>
        <p:nvSpPr>
          <p:cNvPr id="16" name="Text 14"/>
          <p:cNvSpPr txBox="1"/>
          <p:nvPr/>
        </p:nvSpPr>
        <p:spPr>
          <a:xfrm>
            <a:off x="4251960" y="3328416"/>
            <a:ext cx="4345229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00" i="1" dirty="0">
                <a:solidFill>
                  <a:srgbClr val="0D0F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Illustrative response</a:t>
            </a:r>
            <a:endParaRPr lang="en-US" sz="1700" dirty="0"/>
          </a:p>
        </p:txBody>
      </p:sp>
      <p:sp>
        <p:nvSpPr>
          <p:cNvPr id="17" name="Text 15"/>
          <p:cNvSpPr txBox="1"/>
          <p:nvPr/>
        </p:nvSpPr>
        <p:spPr>
          <a:xfrm>
            <a:off x="9381744" y="3182112"/>
            <a:ext cx="111922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69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</a:t>
            </a:r>
            <a:endParaRPr lang="en-US" sz="900" dirty="0"/>
          </a:p>
        </p:txBody>
      </p:sp>
      <p:sp>
        <p:nvSpPr>
          <p:cNvPr id="18" name="Text 16"/>
          <p:cNvSpPr txBox="1"/>
          <p:nvPr/>
        </p:nvSpPr>
        <p:spPr>
          <a:xfrm>
            <a:off x="914400" y="557784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3F5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EVIDENCE</a:t>
            </a:r>
            <a:endParaRPr lang="en-US" sz="1000" dirty="0"/>
          </a:p>
        </p:txBody>
      </p:sp>
      <p:sp>
        <p:nvSpPr>
          <p:cNvPr id="19" name="Text 17"/>
          <p:cNvSpPr txBox="1"/>
          <p:nvPr/>
        </p:nvSpPr>
        <p:spPr>
          <a:xfrm>
            <a:off x="3749040" y="667512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AEB4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SCORE FAMILIES</a:t>
            </a:r>
            <a:endParaRPr lang="en-US" sz="1000" dirty="0"/>
          </a:p>
        </p:txBody>
      </p:sp>
      <p:sp>
        <p:nvSpPr>
          <p:cNvPr id="20" name="Text 18"/>
          <p:cNvSpPr txBox="1"/>
          <p:nvPr/>
        </p:nvSpPr>
        <p:spPr>
          <a:xfrm>
            <a:off x="7498080" y="557784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AEB4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VALIDITY</a:t>
            </a:r>
            <a:endParaRPr lang="en-US" sz="1000" dirty="0"/>
          </a:p>
        </p:txBody>
      </p:sp>
      <p:sp>
        <p:nvSpPr>
          <p:cNvPr id="21" name="Text 19"/>
          <p:cNvSpPr txBox="1"/>
          <p:nvPr/>
        </p:nvSpPr>
        <p:spPr>
          <a:xfrm>
            <a:off x="10241280" y="667512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AEB4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CAREER COMPARE</a:t>
            </a:r>
            <a:endParaRPr lang="en-US" sz="1000" dirty="0"/>
          </a:p>
        </p:txBody>
      </p:sp>
      <p:sp>
        <p:nvSpPr>
          <p:cNvPr id="22" name="Text 20"/>
          <p:cNvSpPr txBox="1"/>
          <p:nvPr/>
        </p:nvSpPr>
        <p:spPr>
          <a:xfrm>
            <a:off x="12252960" y="502920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AEB4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DATED RECORD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846320" y="3931920"/>
            <a:ext cx="-3291840" cy="1828800"/>
          </a:xfrm>
          <a:prstGeom prst="line">
            <a:avLst/>
          </a:prstGeom>
          <a:noFill/>
          <a:ln w="25400">
            <a:solidFill>
              <a:srgbClr val="642832"/>
            </a:solidFill>
            <a:prstDash val="solid"/>
            <a:headEnd type="none"/>
            <a:tailEnd type="none"/>
          </a:ln>
        </p:spPr>
      </p:sp>
      <p:sp>
        <p:nvSpPr>
          <p:cNvPr id="24" name="Shape 22"/>
          <p:cNvSpPr/>
          <p:nvPr/>
        </p:nvSpPr>
        <p:spPr>
          <a:xfrm>
            <a:off x="6126480" y="3931920"/>
            <a:ext cx="-1554480" cy="2743200"/>
          </a:xfrm>
          <a:prstGeom prst="line">
            <a:avLst/>
          </a:prstGeom>
          <a:noFill/>
          <a:ln w="25400">
            <a:solidFill>
              <a:srgbClr val="642832"/>
            </a:solidFill>
            <a:prstDash val="solid"/>
            <a:headEnd type="none"/>
            <a:tailEnd type="none"/>
          </a:ln>
        </p:spPr>
      </p:sp>
      <p:sp>
        <p:nvSpPr>
          <p:cNvPr id="25" name="Shape 23"/>
          <p:cNvSpPr/>
          <p:nvPr/>
        </p:nvSpPr>
        <p:spPr>
          <a:xfrm>
            <a:off x="7498080" y="3931920"/>
            <a:ext cx="731520" cy="1645920"/>
          </a:xfrm>
          <a:prstGeom prst="line">
            <a:avLst/>
          </a:prstGeom>
          <a:noFill/>
          <a:ln w="25400">
            <a:solidFill>
              <a:srgbClr val="642832"/>
            </a:solidFill>
            <a:prstDash val="solid"/>
            <a:headEnd type="none"/>
            <a:tailEnd type="none"/>
          </a:ln>
        </p:spPr>
      </p:sp>
      <p:sp>
        <p:nvSpPr>
          <p:cNvPr id="26" name="Shape 24"/>
          <p:cNvSpPr/>
          <p:nvPr/>
        </p:nvSpPr>
        <p:spPr>
          <a:xfrm>
            <a:off x="8686800" y="3931920"/>
            <a:ext cx="2103120" cy="2743200"/>
          </a:xfrm>
          <a:prstGeom prst="line">
            <a:avLst/>
          </a:prstGeom>
          <a:noFill/>
          <a:ln w="25400">
            <a:solidFill>
              <a:srgbClr val="642832"/>
            </a:solidFill>
            <a:prstDash val="solid"/>
            <a:headEnd type="none"/>
            <a:tailEnd type="none"/>
          </a:ln>
        </p:spPr>
      </p:sp>
      <p:sp>
        <p:nvSpPr>
          <p:cNvPr id="27" name="Shape 25"/>
          <p:cNvSpPr/>
          <p:nvPr/>
        </p:nvSpPr>
        <p:spPr>
          <a:xfrm>
            <a:off x="9875520" y="3931920"/>
            <a:ext cx="2743200" cy="1005840"/>
          </a:xfrm>
          <a:prstGeom prst="line">
            <a:avLst/>
          </a:prstGeom>
          <a:noFill/>
          <a:ln w="25400">
            <a:solidFill>
              <a:srgbClr val="642832"/>
            </a:solidFill>
            <a:prstDash val="solid"/>
            <a:headEnd type="none"/>
            <a:tailEnd type="none"/>
          </a:ln>
        </p:spPr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0D0F0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228600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3F5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Personality Assessor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7315200" y="228600"/>
            <a:ext cx="6812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00" dirty="0">
                <a:solidFill>
                  <a:srgbClr val="AEB4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it works   Career   Progress   Methodology   Trust   Sign in   Index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658368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AEB4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STATIC BOARD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502920" y="1005840"/>
            <a:ext cx="135331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3F5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Progress / Longitudinal Film</a:t>
            </a:r>
            <a:endParaRPr lang="en-US" sz="2600" dirty="0"/>
          </a:p>
        </p:txBody>
      </p:sp>
      <p:sp>
        <p:nvSpPr>
          <p:cNvPr id="6" name="Text 4"/>
          <p:cNvSpPr txBox="1"/>
          <p:nvPr/>
        </p:nvSpPr>
        <p:spPr>
          <a:xfrm>
            <a:off x="502920" y="1664208"/>
            <a:ext cx="13258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AEB4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dated records and same-source crops. Revised meaning exists only in their intersection.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0" y="594360"/>
            <a:ext cx="8869680" cy="8046720"/>
          </a:xfrm>
          <a:prstGeom prst="rect">
            <a:avLst/>
          </a:prstGeom>
          <a:solidFill>
            <a:srgbClr val="313633"/>
          </a:solidFill>
          <a:ln w="12700">
            <a:solidFill>
              <a:srgbClr val="313633">
                <a:alpha val="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64362" y="1238098"/>
            <a:ext cx="1951330" cy="6759245"/>
          </a:xfrm>
          <a:prstGeom prst="rect">
            <a:avLst/>
          </a:prstGeom>
          <a:solidFill>
            <a:srgbClr val="3C423E"/>
          </a:solidFill>
          <a:ln w="12700">
            <a:solidFill>
              <a:srgbClr val="3C423E">
                <a:alpha val="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459175" y="2042770"/>
            <a:ext cx="4257446" cy="4425696"/>
          </a:xfrm>
          <a:prstGeom prst="rect">
            <a:avLst/>
          </a:prstGeom>
          <a:solidFill>
            <a:srgbClr val="272C29"/>
          </a:solidFill>
          <a:ln w="12700">
            <a:solidFill>
              <a:srgbClr val="272C29">
                <a:alpha val="0"/>
              </a:srgbClr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354787" y="6548933"/>
            <a:ext cx="7982712" cy="96560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3F5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progressStudio / crop A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354787" y="7514539"/>
            <a:ext cx="7982712" cy="64373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AEB4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earlier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400800" y="914400"/>
            <a:ext cx="8229600" cy="7498080"/>
          </a:xfrm>
          <a:prstGeom prst="rect">
            <a:avLst/>
          </a:prstGeom>
          <a:solidFill>
            <a:srgbClr val="313633"/>
          </a:solidFill>
          <a:ln w="12700">
            <a:solidFill>
              <a:srgbClr val="313633">
                <a:alpha val="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388352" y="1514246"/>
            <a:ext cx="1810512" cy="6298387"/>
          </a:xfrm>
          <a:prstGeom prst="rect">
            <a:avLst/>
          </a:prstGeom>
          <a:solidFill>
            <a:srgbClr val="3C423E"/>
          </a:solidFill>
          <a:ln w="12700">
            <a:solidFill>
              <a:srgbClr val="3C423E">
                <a:alpha val="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9610344" y="2264054"/>
            <a:ext cx="3950208" cy="4123944"/>
          </a:xfrm>
          <a:prstGeom prst="rect">
            <a:avLst/>
          </a:prstGeom>
          <a:solidFill>
            <a:srgbClr val="272C29"/>
          </a:solidFill>
          <a:ln w="12700">
            <a:solidFill>
              <a:srgbClr val="272C29">
                <a:alpha val="0"/>
              </a:srgbClr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729984" y="6462979"/>
            <a:ext cx="7406640" cy="89977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3F5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progressStudio / crop B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6729984" y="7362749"/>
            <a:ext cx="7406640" cy="59984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AEB4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later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822960" y="6035040"/>
            <a:ext cx="5669280" cy="868680"/>
          </a:xfrm>
          <a:prstGeom prst="rect">
            <a:avLst/>
          </a:prstGeom>
          <a:solidFill>
            <a:srgbClr val="F3F5F2"/>
          </a:solidFill>
          <a:ln w="12700">
            <a:solidFill>
              <a:srgbClr val="F3F5F2">
                <a:alpha val="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22960" y="6035040"/>
            <a:ext cx="64008" cy="868680"/>
          </a:xfrm>
          <a:prstGeom prst="rect">
            <a:avLst/>
          </a:prstGeom>
          <a:solidFill>
            <a:srgbClr val="642832"/>
          </a:solidFill>
          <a:ln w="12700">
            <a:solidFill>
              <a:srgbClr val="642832">
                <a:alpha val="0"/>
              </a:srgbClr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960120" y="6126480"/>
            <a:ext cx="1303934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69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ILLUSTRATIVE RESPONSE</a:t>
            </a:r>
            <a:endParaRPr lang="en-US" sz="900" dirty="0"/>
          </a:p>
        </p:txBody>
      </p:sp>
      <p:sp>
        <p:nvSpPr>
          <p:cNvPr id="20" name="Text 18"/>
          <p:cNvSpPr txBox="1"/>
          <p:nvPr/>
        </p:nvSpPr>
        <p:spPr>
          <a:xfrm>
            <a:off x="960120" y="6345936"/>
            <a:ext cx="3741725" cy="382219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00" i="1" dirty="0">
                <a:solidFill>
                  <a:srgbClr val="0D0F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Earlier record</a:t>
            </a:r>
            <a:endParaRPr lang="en-US" sz="1700" dirty="0"/>
          </a:p>
        </p:txBody>
      </p:sp>
      <p:sp>
        <p:nvSpPr>
          <p:cNvPr id="21" name="Text 19"/>
          <p:cNvSpPr txBox="1"/>
          <p:nvPr/>
        </p:nvSpPr>
        <p:spPr>
          <a:xfrm>
            <a:off x="5358384" y="6199632"/>
            <a:ext cx="963778" cy="47777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69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ASSESSMENT 01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7315200" y="1920240"/>
            <a:ext cx="5577840" cy="868680"/>
          </a:xfrm>
          <a:prstGeom prst="rect">
            <a:avLst/>
          </a:prstGeom>
          <a:solidFill>
            <a:srgbClr val="0D0F0E"/>
          </a:solidFill>
          <a:ln w="12700">
            <a:solidFill>
              <a:srgbClr val="0D0F0E">
                <a:alpha val="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315200" y="1920240"/>
            <a:ext cx="64008" cy="868680"/>
          </a:xfrm>
          <a:prstGeom prst="rect">
            <a:avLst/>
          </a:prstGeom>
          <a:solidFill>
            <a:srgbClr val="642832"/>
          </a:solidFill>
          <a:ln w="12700">
            <a:solidFill>
              <a:srgbClr val="642832">
                <a:alpha val="0"/>
              </a:srgbClr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7452360" y="2011680"/>
            <a:ext cx="1282903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AEB4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ILLUSTRATIVE RESPONSE</a:t>
            </a:r>
            <a:endParaRPr lang="en-US" sz="900" dirty="0"/>
          </a:p>
        </p:txBody>
      </p:sp>
      <p:sp>
        <p:nvSpPr>
          <p:cNvPr id="25" name="Text 23"/>
          <p:cNvSpPr txBox="1"/>
          <p:nvPr/>
        </p:nvSpPr>
        <p:spPr>
          <a:xfrm>
            <a:off x="7452360" y="2231136"/>
            <a:ext cx="3681374" cy="382219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00" i="1" dirty="0">
                <a:solidFill>
                  <a:srgbClr val="F3F5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Later record</a:t>
            </a:r>
            <a:endParaRPr lang="en-US" sz="1700" dirty="0"/>
          </a:p>
        </p:txBody>
      </p:sp>
      <p:sp>
        <p:nvSpPr>
          <p:cNvPr id="26" name="Text 24"/>
          <p:cNvSpPr txBox="1"/>
          <p:nvPr/>
        </p:nvSpPr>
        <p:spPr>
          <a:xfrm>
            <a:off x="11777472" y="2084832"/>
            <a:ext cx="948233" cy="47777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AEB4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ASSESSMENT 02</a:t>
            </a:r>
            <a:endParaRPr lang="en-US" sz="900" dirty="0"/>
          </a:p>
        </p:txBody>
      </p:sp>
      <p:sp>
        <p:nvSpPr>
          <p:cNvPr id="27" name="Text 25"/>
          <p:cNvSpPr txBox="1"/>
          <p:nvPr/>
        </p:nvSpPr>
        <p:spPr>
          <a:xfrm>
            <a:off x="731520" y="109728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3100" b="1" dirty="0">
                <a:solidFill>
                  <a:srgbClr val="F3F5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later record does not replace the first.</a:t>
            </a:r>
            <a:endParaRPr lang="en-US" sz="3100" dirty="0"/>
          </a:p>
        </p:txBody>
      </p:sp>
      <p:sp>
        <p:nvSpPr>
          <p:cNvPr id="28" name="Text 26"/>
          <p:cNvSpPr txBox="1"/>
          <p:nvPr/>
        </p:nvSpPr>
        <p:spPr>
          <a:xfrm>
            <a:off x="5852160" y="457200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6428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revised reading</a:t>
            </a:r>
            <a:endParaRPr lang="en-US" sz="16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0D0F0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228600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3F5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Personality Assessor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7315200" y="228600"/>
            <a:ext cx="6812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00" dirty="0">
                <a:solidFill>
                  <a:srgbClr val="AEB4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it works   Career   Progress   Methodology   Trust   Sign in   Index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658368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AEB4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STATIC BOARD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502920" y="1005840"/>
            <a:ext cx="135331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3F5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Trust / Traceback</a:t>
            </a:r>
            <a:endParaRPr lang="en-US" sz="2600" dirty="0"/>
          </a:p>
        </p:txBody>
      </p:sp>
      <p:sp>
        <p:nvSpPr>
          <p:cNvPr id="6" name="Text 4"/>
          <p:cNvSpPr txBox="1"/>
          <p:nvPr/>
        </p:nvSpPr>
        <p:spPr>
          <a:xfrm>
            <a:off x="502920" y="1664208"/>
            <a:ext cx="13258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AEB4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Provenance is a trace from reading back to source, not a tab system.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0" y="548640"/>
            <a:ext cx="8412480" cy="8138160"/>
          </a:xfrm>
          <a:prstGeom prst="rect">
            <a:avLst/>
          </a:prstGeom>
          <a:solidFill>
            <a:srgbClr val="313633"/>
          </a:solidFill>
          <a:ln w="12700">
            <a:solidFill>
              <a:srgbClr val="313633">
                <a:alpha val="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09498" y="1199693"/>
            <a:ext cx="1850746" cy="6836054"/>
          </a:xfrm>
          <a:prstGeom prst="rect">
            <a:avLst/>
          </a:prstGeom>
          <a:solidFill>
            <a:srgbClr val="3C423E"/>
          </a:solidFill>
          <a:ln w="12700">
            <a:solidFill>
              <a:srgbClr val="3C423E">
                <a:alpha val="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280867" y="2013509"/>
            <a:ext cx="4037990" cy="4475988"/>
          </a:xfrm>
          <a:prstGeom prst="rect">
            <a:avLst/>
          </a:prstGeom>
          <a:solidFill>
            <a:srgbClr val="272C29"/>
          </a:solidFill>
          <a:ln w="12700">
            <a:solidFill>
              <a:srgbClr val="272C29">
                <a:alpha val="0"/>
              </a:srgbClr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336499" y="6570878"/>
            <a:ext cx="7571232" cy="976579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3F5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trustInspection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336499" y="7547458"/>
            <a:ext cx="7571232" cy="65105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AEB4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human inspection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5212080" y="1828800"/>
            <a:ext cx="7772400" cy="1005840"/>
          </a:xfrm>
          <a:prstGeom prst="rect">
            <a:avLst/>
          </a:prstGeom>
          <a:solidFill>
            <a:srgbClr val="F3F5F2"/>
          </a:solidFill>
          <a:ln w="12700">
            <a:solidFill>
              <a:srgbClr val="F3F5F2">
                <a:alpha val="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212080" y="1828800"/>
            <a:ext cx="64008" cy="1005840"/>
          </a:xfrm>
          <a:prstGeom prst="rect">
            <a:avLst/>
          </a:prstGeom>
          <a:solidFill>
            <a:srgbClr val="642832"/>
          </a:solidFill>
          <a:ln w="12700">
            <a:solidFill>
              <a:srgbClr val="642832">
                <a:alpha val="0"/>
              </a:srgbClr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5349240" y="1920240"/>
            <a:ext cx="1787652" cy="22128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69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ILLUSTRATIVE RESPONSE</a:t>
            </a:r>
            <a:endParaRPr lang="en-US" sz="900" dirty="0"/>
          </a:p>
        </p:txBody>
      </p:sp>
      <p:sp>
        <p:nvSpPr>
          <p:cNvPr id="15" name="Text 13"/>
          <p:cNvSpPr txBox="1"/>
          <p:nvPr/>
        </p:nvSpPr>
        <p:spPr>
          <a:xfrm>
            <a:off x="5349240" y="2139696"/>
            <a:ext cx="5129784" cy="44257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00" i="1" dirty="0">
                <a:solidFill>
                  <a:srgbClr val="0D0F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Reading assembled from retained evidence</a:t>
            </a:r>
            <a:endParaRPr lang="en-US" sz="1700" dirty="0"/>
          </a:p>
        </p:txBody>
      </p:sp>
      <p:sp>
        <p:nvSpPr>
          <p:cNvPr id="16" name="Text 14"/>
          <p:cNvSpPr txBox="1"/>
          <p:nvPr/>
        </p:nvSpPr>
        <p:spPr>
          <a:xfrm>
            <a:off x="11430000" y="1993392"/>
            <a:ext cx="1321308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69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TRACE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6400800" y="2834640"/>
            <a:ext cx="-2286000" cy="1188720"/>
          </a:xfrm>
          <a:prstGeom prst="line">
            <a:avLst/>
          </a:prstGeom>
          <a:noFill/>
          <a:ln w="27940">
            <a:solidFill>
              <a:srgbClr val="642832"/>
            </a:solidFill>
            <a:prstDash val="solid"/>
            <a:headEnd type="none"/>
            <a:tailEnd type="none"/>
          </a:ln>
        </p:spPr>
      </p:sp>
      <p:sp>
        <p:nvSpPr>
          <p:cNvPr id="18" name="Shape 16"/>
          <p:cNvSpPr/>
          <p:nvPr/>
        </p:nvSpPr>
        <p:spPr>
          <a:xfrm>
            <a:off x="7315200" y="2834640"/>
            <a:ext cx="182880" cy="2011680"/>
          </a:xfrm>
          <a:prstGeom prst="line">
            <a:avLst/>
          </a:prstGeom>
          <a:noFill/>
          <a:ln w="27940">
            <a:solidFill>
              <a:srgbClr val="642832"/>
            </a:solidFill>
            <a:prstDash val="solid"/>
            <a:headEnd type="none"/>
            <a:tailEnd type="none"/>
          </a:ln>
        </p:spPr>
      </p:sp>
      <p:sp>
        <p:nvSpPr>
          <p:cNvPr id="19" name="Shape 17"/>
          <p:cNvSpPr/>
          <p:nvPr/>
        </p:nvSpPr>
        <p:spPr>
          <a:xfrm>
            <a:off x="8229600" y="2834640"/>
            <a:ext cx="1828800" cy="1188720"/>
          </a:xfrm>
          <a:prstGeom prst="line">
            <a:avLst/>
          </a:prstGeom>
          <a:noFill/>
          <a:ln w="27940">
            <a:solidFill>
              <a:srgbClr val="642832"/>
            </a:solidFill>
            <a:prstDash val="solid"/>
            <a:headEnd type="none"/>
            <a:tailEnd type="none"/>
          </a:ln>
        </p:spPr>
      </p:sp>
      <p:sp>
        <p:nvSpPr>
          <p:cNvPr id="20" name="Shape 18"/>
          <p:cNvSpPr/>
          <p:nvPr/>
        </p:nvSpPr>
        <p:spPr>
          <a:xfrm>
            <a:off x="9144000" y="2834640"/>
            <a:ext cx="2834640" cy="2103120"/>
          </a:xfrm>
          <a:prstGeom prst="line">
            <a:avLst/>
          </a:prstGeom>
          <a:noFill/>
          <a:ln w="27940">
            <a:solidFill>
              <a:srgbClr val="642832"/>
            </a:solidFill>
            <a:prstDash val="solid"/>
            <a:headEnd type="none"/>
            <a:tailEnd type="none"/>
          </a:ln>
        </p:spPr>
      </p:sp>
      <p:sp>
        <p:nvSpPr>
          <p:cNvPr id="21" name="Text 19"/>
          <p:cNvSpPr txBox="1"/>
          <p:nvPr/>
        </p:nvSpPr>
        <p:spPr>
          <a:xfrm>
            <a:off x="2377440" y="397764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AEB4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SUPPLIED</a:t>
            </a:r>
            <a:endParaRPr lang="en-US" sz="1000" dirty="0"/>
          </a:p>
        </p:txBody>
      </p:sp>
      <p:sp>
        <p:nvSpPr>
          <p:cNvPr id="22" name="Text 20"/>
          <p:cNvSpPr txBox="1"/>
          <p:nvPr/>
        </p:nvSpPr>
        <p:spPr>
          <a:xfrm>
            <a:off x="6858000" y="493776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AEB4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CALCULATED</a:t>
            </a:r>
            <a:endParaRPr lang="en-US" sz="1000" dirty="0"/>
          </a:p>
        </p:txBody>
      </p:sp>
      <p:sp>
        <p:nvSpPr>
          <p:cNvPr id="23" name="Text 21"/>
          <p:cNvSpPr txBox="1"/>
          <p:nvPr/>
        </p:nvSpPr>
        <p:spPr>
          <a:xfrm>
            <a:off x="9418320" y="406908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AEB4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COMPARED</a:t>
            </a:r>
            <a:endParaRPr lang="en-US" sz="1000" dirty="0"/>
          </a:p>
        </p:txBody>
      </p:sp>
      <p:sp>
        <p:nvSpPr>
          <p:cNvPr id="24" name="Text 22"/>
          <p:cNvSpPr txBox="1"/>
          <p:nvPr/>
        </p:nvSpPr>
        <p:spPr>
          <a:xfrm>
            <a:off x="11612880" y="507492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AEB4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CONTROLLED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10241280" y="6217920"/>
            <a:ext cx="3291840" cy="1920240"/>
          </a:xfrm>
          <a:prstGeom prst="rect">
            <a:avLst/>
          </a:prstGeom>
          <a:solidFill>
            <a:srgbClr val="313633"/>
          </a:solidFill>
          <a:ln w="12700">
            <a:solidFill>
              <a:srgbClr val="313633">
                <a:alpha val="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0636301" y="6371539"/>
            <a:ext cx="724205" cy="1613002"/>
          </a:xfrm>
          <a:prstGeom prst="rect">
            <a:avLst/>
          </a:prstGeom>
          <a:solidFill>
            <a:srgbClr val="3C423E"/>
          </a:solidFill>
          <a:ln w="12700">
            <a:solidFill>
              <a:srgbClr val="3C423E">
                <a:alpha val="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1525098" y="6563563"/>
            <a:ext cx="1580083" cy="1056132"/>
          </a:xfrm>
          <a:prstGeom prst="rect">
            <a:avLst/>
          </a:prstGeom>
          <a:solidFill>
            <a:srgbClr val="272C29"/>
          </a:solidFill>
          <a:ln w="12700">
            <a:solidFill>
              <a:srgbClr val="272C29">
                <a:alpha val="0"/>
              </a:srgbClr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10372954" y="7638898"/>
            <a:ext cx="2962656" cy="230429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40" b="1" dirty="0">
                <a:solidFill>
                  <a:srgbClr val="F3F5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trustDiagnostic</a:t>
            </a:r>
            <a:endParaRPr lang="en-US" sz="1440" dirty="0"/>
          </a:p>
        </p:txBody>
      </p:sp>
      <p:sp>
        <p:nvSpPr>
          <p:cNvPr id="29" name="Text 27"/>
          <p:cNvSpPr txBox="1"/>
          <p:nvPr/>
        </p:nvSpPr>
        <p:spPr>
          <a:xfrm>
            <a:off x="10372954" y="7869326"/>
            <a:ext cx="2962656" cy="153619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AEB4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diagnostic detail</a:t>
            </a:r>
            <a:endParaRPr lang="en-US" sz="9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3F5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228600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D0F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Personality Assessor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7315200" y="228600"/>
            <a:ext cx="6812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00" dirty="0">
                <a:solidFill>
                  <a:srgbClr val="69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it works   Career   Progress   Methodology   Trust   Sign in   Index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658368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69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STATIC BOARD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502920" y="1005840"/>
            <a:ext cx="135331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D0F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Signup / Create First Record</a:t>
            </a:r>
            <a:endParaRPr lang="en-US" sz="2600" dirty="0"/>
          </a:p>
        </p:txBody>
      </p:sp>
      <p:sp>
        <p:nvSpPr>
          <p:cNvPr id="6" name="Text 4"/>
          <p:cNvSpPr txBox="1"/>
          <p:nvPr/>
        </p:nvSpPr>
        <p:spPr>
          <a:xfrm>
            <a:off x="502920" y="1664208"/>
            <a:ext cx="13258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69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Environmental image crosses composition. Form stays primary; image is not the right half.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5303520" y="457200"/>
            <a:ext cx="9418320" cy="8229600"/>
          </a:xfrm>
          <a:prstGeom prst="rect">
            <a:avLst/>
          </a:prstGeom>
          <a:solidFill>
            <a:srgbClr val="313633"/>
          </a:solidFill>
          <a:ln w="12700">
            <a:solidFill>
              <a:srgbClr val="313633">
                <a:alpha val="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433718" y="1115568"/>
            <a:ext cx="2072030" cy="6912864"/>
          </a:xfrm>
          <a:prstGeom prst="rect">
            <a:avLst/>
          </a:prstGeom>
          <a:solidFill>
            <a:srgbClr val="3C423E"/>
          </a:solidFill>
          <a:ln w="12700">
            <a:solidFill>
              <a:srgbClr val="3C423E">
                <a:alpha val="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976665" y="1938528"/>
            <a:ext cx="4520794" cy="4526280"/>
          </a:xfrm>
          <a:prstGeom prst="rect">
            <a:avLst/>
          </a:prstGeom>
          <a:solidFill>
            <a:srgbClr val="272C29"/>
          </a:solidFill>
          <a:ln w="12700">
            <a:solidFill>
              <a:srgbClr val="272C29">
                <a:alpha val="0"/>
              </a:srgbClr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680253" y="6547104"/>
            <a:ext cx="8476488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3F5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signupFirstRecord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5680253" y="7534656"/>
            <a:ext cx="847648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AEB4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writing / first record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594360" y="1234440"/>
            <a:ext cx="4663440" cy="7040880"/>
          </a:xfrm>
          <a:prstGeom prst="rect">
            <a:avLst/>
          </a:prstGeom>
          <a:solidFill>
            <a:srgbClr val="F3F5F2"/>
          </a:solidFill>
          <a:ln w="12700">
            <a:solidFill>
              <a:srgbClr val="F3F5F2">
                <a:alpha val="0"/>
              </a:srgbClr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777240" y="1508760"/>
            <a:ext cx="40690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D0F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Start a record that can change with new evidence.</a:t>
            </a:r>
            <a:endParaRPr lang="en-US" sz="2600" dirty="0"/>
          </a:p>
        </p:txBody>
      </p:sp>
      <p:sp>
        <p:nvSpPr>
          <p:cNvPr id="14" name="Text 12"/>
          <p:cNvSpPr txBox="1"/>
          <p:nvPr/>
        </p:nvSpPr>
        <p:spPr>
          <a:xfrm>
            <a:off x="822960" y="3017520"/>
            <a:ext cx="374904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0D0F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Email</a:t>
            </a: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rgbClr val="0D0F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____________________________</a:t>
            </a:r>
            <a:endParaRPr lang="en-US" sz="1500" dirty="0"/>
          </a:p>
          <a:p>
            <a:pPr algn="l" indent="0" marL="0">
              <a:buNone/>
            </a:pP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rgbClr val="0D0F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Password</a:t>
            </a: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rgbClr val="0D0F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____________________________</a:t>
            </a:r>
            <a:endParaRPr lang="en-US" sz="1500" dirty="0"/>
          </a:p>
          <a:p>
            <a:pPr algn="l" indent="0" marL="0">
              <a:buNone/>
            </a:pP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rgbClr val="0D0F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Confirm password</a:t>
            </a: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rgbClr val="0D0F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____________________________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822960" y="640080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D0F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Create account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400800" y="6400800"/>
            <a:ext cx="6217920" cy="822960"/>
          </a:xfrm>
          <a:prstGeom prst="rect">
            <a:avLst/>
          </a:prstGeom>
          <a:solidFill>
            <a:srgbClr val="F3F5F2"/>
          </a:solidFill>
          <a:ln w="12700">
            <a:solidFill>
              <a:srgbClr val="F3F5F2">
                <a:alpha val="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400800" y="6400800"/>
            <a:ext cx="64008" cy="822960"/>
          </a:xfrm>
          <a:prstGeom prst="rect">
            <a:avLst/>
          </a:prstGeom>
          <a:solidFill>
            <a:srgbClr val="642832"/>
          </a:solidFill>
          <a:ln w="12700">
            <a:solidFill>
              <a:srgbClr val="642832">
                <a:alpha val="0"/>
              </a:srgbClr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537960" y="6492240"/>
            <a:ext cx="1430122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69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ILLUSTRATIVE RESPONSE</a:t>
            </a:r>
            <a:endParaRPr lang="en-US" sz="900" dirty="0"/>
          </a:p>
        </p:txBody>
      </p:sp>
      <p:sp>
        <p:nvSpPr>
          <p:cNvPr id="19" name="Text 17"/>
          <p:cNvSpPr txBox="1"/>
          <p:nvPr/>
        </p:nvSpPr>
        <p:spPr>
          <a:xfrm>
            <a:off x="6537960" y="6711696"/>
            <a:ext cx="4103827" cy="36210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endParaRPr lang="en-US" sz="1700" dirty="0"/>
          </a:p>
        </p:txBody>
      </p:sp>
      <p:sp>
        <p:nvSpPr>
          <p:cNvPr id="20" name="Text 18"/>
          <p:cNvSpPr txBox="1"/>
          <p:nvPr/>
        </p:nvSpPr>
        <p:spPr>
          <a:xfrm>
            <a:off x="11375136" y="6565392"/>
            <a:ext cx="1057046" cy="4526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69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NEW RECORD</a:t>
            </a:r>
            <a:endParaRPr lang="en-US" sz="9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2227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658368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AEB4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MOBILE BOARD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1005840"/>
            <a:ext cx="135331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3F5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Home / World Entry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1664208"/>
            <a:ext cx="13258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AEB4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Portrait world first; strip crosses lower third; no desktop split.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257800" y="914400"/>
            <a:ext cx="4114800" cy="7818120"/>
          </a:xfrm>
          <a:prstGeom prst="rect">
            <a:avLst/>
          </a:prstGeom>
          <a:solidFill>
            <a:srgbClr val="0D0F0E"/>
          </a:solidFill>
          <a:ln w="12700">
            <a:solidFill>
              <a:srgbClr val="0D0F0E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875020" y="1383487"/>
            <a:ext cx="3785616" cy="4534510"/>
          </a:xfrm>
          <a:prstGeom prst="rect">
            <a:avLst/>
          </a:prstGeom>
          <a:solidFill>
            <a:srgbClr val="313633"/>
          </a:solidFill>
          <a:ln w="12700">
            <a:solidFill>
              <a:srgbClr val="313633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329294" y="1746248"/>
            <a:ext cx="832836" cy="3808988"/>
          </a:xfrm>
          <a:prstGeom prst="rect">
            <a:avLst/>
          </a:prstGeom>
          <a:solidFill>
            <a:srgbClr val="3C423E"/>
          </a:solidFill>
          <a:ln w="12700">
            <a:solidFill>
              <a:srgbClr val="3C423E">
                <a:alpha val="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351410" y="2199699"/>
            <a:ext cx="1817096" cy="2493980"/>
          </a:xfrm>
          <a:prstGeom prst="rect">
            <a:avLst/>
          </a:prstGeom>
          <a:solidFill>
            <a:srgbClr val="272C29"/>
          </a:solidFill>
          <a:ln w="12700">
            <a:solidFill>
              <a:srgbClr val="272C29">
                <a:alpha val="0"/>
              </a:srgbClr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026445" y="4739024"/>
            <a:ext cx="3407054" cy="544141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3F5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homeContext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5463540" y="1539850"/>
            <a:ext cx="3209544" cy="1563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F3F5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Keep the</a:t>
            </a:r>
            <a:endParaRPr lang="en-US" sz="2500" dirty="0"/>
          </a:p>
          <a:p>
            <a:pPr algn="l" indent="0" marL="0">
              <a:buNone/>
            </a:pPr>
            <a:r>
              <a:rPr lang="en-US" sz="2500" b="1" dirty="0">
                <a:solidFill>
                  <a:srgbClr val="F3F5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 attached.</a:t>
            </a:r>
            <a:endParaRPr lang="en-US" sz="2500" dirty="0"/>
          </a:p>
        </p:txBody>
      </p:sp>
      <p:sp>
        <p:nvSpPr>
          <p:cNvPr id="11" name="Shape 9"/>
          <p:cNvSpPr/>
          <p:nvPr/>
        </p:nvSpPr>
        <p:spPr>
          <a:xfrm>
            <a:off x="5545836" y="5605272"/>
            <a:ext cx="3538728" cy="1250899"/>
          </a:xfrm>
          <a:prstGeom prst="rect">
            <a:avLst/>
          </a:prstGeom>
          <a:solidFill>
            <a:srgbClr val="F3F5F2"/>
          </a:solidFill>
          <a:ln w="12700">
            <a:solidFill>
              <a:srgbClr val="F3F5F2">
                <a:alpha val="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545836" y="5605272"/>
            <a:ext cx="64008" cy="1250899"/>
          </a:xfrm>
          <a:prstGeom prst="rect">
            <a:avLst/>
          </a:prstGeom>
          <a:solidFill>
            <a:srgbClr val="642832"/>
          </a:solidFill>
          <a:ln w="12700">
            <a:solidFill>
              <a:srgbClr val="642832">
                <a:alpha val="0"/>
              </a:srgbClr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682996" y="5696712"/>
            <a:ext cx="813907" cy="27519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69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ILLUSTRATIVE RESPONSE</a:t>
            </a:r>
            <a:endParaRPr lang="en-US" sz="900" dirty="0"/>
          </a:p>
        </p:txBody>
      </p:sp>
      <p:sp>
        <p:nvSpPr>
          <p:cNvPr id="14" name="Text 12"/>
          <p:cNvSpPr txBox="1"/>
          <p:nvPr/>
        </p:nvSpPr>
        <p:spPr>
          <a:xfrm>
            <a:off x="5682996" y="5916168"/>
            <a:ext cx="2335560" cy="5503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00" i="1" dirty="0">
                <a:solidFill>
                  <a:srgbClr val="0D0F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“I clarify responsibilities before committing work.”</a:t>
            </a:r>
            <a:endParaRPr lang="en-US" sz="1700" dirty="0"/>
          </a:p>
        </p:txBody>
      </p:sp>
      <p:sp>
        <p:nvSpPr>
          <p:cNvPr id="15" name="Text 13"/>
          <p:cNvSpPr txBox="1"/>
          <p:nvPr/>
        </p:nvSpPr>
        <p:spPr>
          <a:xfrm>
            <a:off x="8376818" y="5769864"/>
            <a:ext cx="601584" cy="68799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69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</a:t>
            </a:r>
            <a:endParaRPr lang="en-US" sz="900" dirty="0"/>
          </a:p>
        </p:txBody>
      </p:sp>
      <p:sp>
        <p:nvSpPr>
          <p:cNvPr id="16" name="Text 14"/>
          <p:cNvSpPr txBox="1"/>
          <p:nvPr/>
        </p:nvSpPr>
        <p:spPr>
          <a:xfrm>
            <a:off x="5545836" y="7325258"/>
            <a:ext cx="1728216" cy="39090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3F5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 profile</a:t>
            </a:r>
            <a:endParaRPr lang="en-US" sz="11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2227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658368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AEB4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MOBILE BOARD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1005840"/>
            <a:ext cx="135331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3F5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Home / Branching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1664208"/>
            <a:ext cx="13258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AEB4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Vertical evidence spine with left/right branch moments. Signature mechanic remains.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257800" y="914400"/>
            <a:ext cx="4114800" cy="7818120"/>
          </a:xfrm>
          <a:prstGeom prst="rect">
            <a:avLst/>
          </a:prstGeom>
          <a:solidFill>
            <a:srgbClr val="0D0F0E"/>
          </a:solidFill>
          <a:ln w="12700">
            <a:solidFill>
              <a:srgbClr val="0D0F0E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586984" y="1539850"/>
            <a:ext cx="3456432" cy="1016356"/>
          </a:xfrm>
          <a:prstGeom prst="rect">
            <a:avLst/>
          </a:prstGeom>
          <a:solidFill>
            <a:srgbClr val="F3F5F2"/>
          </a:solidFill>
          <a:ln w="12700">
            <a:solidFill>
              <a:srgbClr val="F3F5F2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586984" y="1539850"/>
            <a:ext cx="64008" cy="1016356"/>
          </a:xfrm>
          <a:prstGeom prst="rect">
            <a:avLst/>
          </a:prstGeom>
          <a:solidFill>
            <a:srgbClr val="642832"/>
          </a:solidFill>
          <a:ln w="12700">
            <a:solidFill>
              <a:srgbClr val="642832">
                <a:alpha val="0"/>
              </a:srgbClr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724144" y="1631290"/>
            <a:ext cx="794979" cy="22359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69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ILLUSTRATIVE RESPONSE</a:t>
            </a:r>
            <a:endParaRPr lang="en-US" sz="900" dirty="0"/>
          </a:p>
        </p:txBody>
      </p:sp>
      <p:sp>
        <p:nvSpPr>
          <p:cNvPr id="9" name="Text 7"/>
          <p:cNvSpPr txBox="1"/>
          <p:nvPr/>
        </p:nvSpPr>
        <p:spPr>
          <a:xfrm>
            <a:off x="5724144" y="1850746"/>
            <a:ext cx="2281245" cy="4471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00" i="1" dirty="0">
                <a:solidFill>
                  <a:srgbClr val="0D0F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 response</a:t>
            </a:r>
            <a:endParaRPr lang="en-US" sz="1700" dirty="0"/>
          </a:p>
        </p:txBody>
      </p:sp>
      <p:sp>
        <p:nvSpPr>
          <p:cNvPr id="10" name="Text 8"/>
          <p:cNvSpPr txBox="1"/>
          <p:nvPr/>
        </p:nvSpPr>
        <p:spPr>
          <a:xfrm>
            <a:off x="8352130" y="1704442"/>
            <a:ext cx="587593" cy="5589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69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7315200" y="2556205"/>
            <a:ext cx="0" cy="4847234"/>
          </a:xfrm>
          <a:prstGeom prst="line">
            <a:avLst/>
          </a:prstGeom>
          <a:noFill/>
          <a:ln w="27940">
            <a:solidFill>
              <a:srgbClr val="642832"/>
            </a:solidFill>
            <a:prstDash val="solid"/>
            <a:headEnd type="none"/>
            <a:tailEnd type="none"/>
          </a:ln>
        </p:spPr>
      </p:sp>
      <p:sp>
        <p:nvSpPr>
          <p:cNvPr id="12" name="Shape 10"/>
          <p:cNvSpPr/>
          <p:nvPr/>
        </p:nvSpPr>
        <p:spPr>
          <a:xfrm>
            <a:off x="7315200" y="3650742"/>
            <a:ext cx="-1069848" cy="0"/>
          </a:xfrm>
          <a:prstGeom prst="line">
            <a:avLst/>
          </a:prstGeom>
          <a:noFill/>
          <a:ln w="25400">
            <a:solidFill>
              <a:srgbClr val="642832"/>
            </a:solidFill>
            <a:prstDash val="solid"/>
            <a:headEnd type="none"/>
            <a:tailEnd type="none"/>
          </a:ln>
        </p:spPr>
      </p:sp>
      <p:sp>
        <p:nvSpPr>
          <p:cNvPr id="13" name="Shape 11"/>
          <p:cNvSpPr/>
          <p:nvPr/>
        </p:nvSpPr>
        <p:spPr>
          <a:xfrm>
            <a:off x="7315200" y="4745279"/>
            <a:ext cx="1028700" cy="0"/>
          </a:xfrm>
          <a:prstGeom prst="line">
            <a:avLst/>
          </a:prstGeom>
          <a:noFill/>
          <a:ln w="25400">
            <a:solidFill>
              <a:srgbClr val="642832"/>
            </a:solidFill>
            <a:prstDash val="solid"/>
            <a:headEnd type="none"/>
            <a:tailEnd type="none"/>
          </a:ln>
        </p:spPr>
      </p:sp>
      <p:sp>
        <p:nvSpPr>
          <p:cNvPr id="14" name="Shape 12"/>
          <p:cNvSpPr/>
          <p:nvPr/>
        </p:nvSpPr>
        <p:spPr>
          <a:xfrm>
            <a:off x="7315200" y="5917997"/>
            <a:ext cx="-905256" cy="0"/>
          </a:xfrm>
          <a:prstGeom prst="line">
            <a:avLst/>
          </a:prstGeom>
          <a:noFill/>
          <a:ln w="25400">
            <a:solidFill>
              <a:srgbClr val="642832"/>
            </a:solidFill>
            <a:prstDash val="solid"/>
            <a:headEnd type="none"/>
            <a:tailEnd type="none"/>
          </a:ln>
        </p:spPr>
      </p:sp>
      <p:sp>
        <p:nvSpPr>
          <p:cNvPr id="15" name="Text 13"/>
          <p:cNvSpPr txBox="1"/>
          <p:nvPr/>
        </p:nvSpPr>
        <p:spPr>
          <a:xfrm>
            <a:off x="5586984" y="3416198"/>
            <a:ext cx="1316736" cy="31272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3F5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BIG FIVE</a:t>
            </a:r>
            <a:endParaRPr lang="en-US" sz="900" dirty="0"/>
          </a:p>
        </p:txBody>
      </p:sp>
      <p:sp>
        <p:nvSpPr>
          <p:cNvPr id="16" name="Text 14"/>
          <p:cNvSpPr txBox="1"/>
          <p:nvPr/>
        </p:nvSpPr>
        <p:spPr>
          <a:xfrm>
            <a:off x="8014716" y="4510735"/>
            <a:ext cx="1028700" cy="31272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3F5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RIASEC</a:t>
            </a:r>
            <a:endParaRPr lang="en-US" sz="900" dirty="0"/>
          </a:p>
        </p:txBody>
      </p:sp>
      <p:sp>
        <p:nvSpPr>
          <p:cNvPr id="17" name="Text 15"/>
          <p:cNvSpPr txBox="1"/>
          <p:nvPr/>
        </p:nvSpPr>
        <p:spPr>
          <a:xfrm>
            <a:off x="5504688" y="5683453"/>
            <a:ext cx="1357884" cy="31272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3F5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 VALUES</a:t>
            </a:r>
            <a:endParaRPr lang="en-US" sz="900" dirty="0"/>
          </a:p>
        </p:txBody>
      </p:sp>
      <p:sp>
        <p:nvSpPr>
          <p:cNvPr id="18" name="Text 16"/>
          <p:cNvSpPr txBox="1"/>
          <p:nvPr/>
        </p:nvSpPr>
        <p:spPr>
          <a:xfrm>
            <a:off x="7808976" y="6934352"/>
            <a:ext cx="1152144" cy="31272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3F5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CAREER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5381244" y="6230722"/>
            <a:ext cx="1728216" cy="1407262"/>
          </a:xfrm>
          <a:prstGeom prst="rect">
            <a:avLst/>
          </a:prstGeom>
          <a:solidFill>
            <a:srgbClr val="313633"/>
          </a:solidFill>
          <a:ln w="12700">
            <a:solidFill>
              <a:srgbClr val="313633">
                <a:alpha val="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588630" y="6343303"/>
            <a:ext cx="380208" cy="1182100"/>
          </a:xfrm>
          <a:prstGeom prst="rect">
            <a:avLst/>
          </a:prstGeom>
          <a:solidFill>
            <a:srgbClr val="3C423E"/>
          </a:solidFill>
          <a:ln w="12700">
            <a:solidFill>
              <a:srgbClr val="3C423E">
                <a:alpha val="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055248" y="6484029"/>
            <a:ext cx="829544" cy="773994"/>
          </a:xfrm>
          <a:prstGeom prst="rect">
            <a:avLst/>
          </a:prstGeom>
          <a:solidFill>
            <a:srgbClr val="272C29"/>
          </a:solidFill>
          <a:ln w="12700">
            <a:solidFill>
              <a:srgbClr val="272C29">
                <a:alpha val="0"/>
              </a:srgbClr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5450373" y="7272095"/>
            <a:ext cx="1555394" cy="168871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3F5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careerDeepInquiry</a:t>
            </a:r>
            <a:endParaRPr lang="en-US" sz="9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2227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658368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AEB4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MOBILE BOARD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1005840"/>
            <a:ext cx="135331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3F5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Career / Workworld Atlas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1664208"/>
            <a:ext cx="13258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AEB4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environment at a time with next-world peek. No five-image stack.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257800" y="914400"/>
            <a:ext cx="4114800" cy="7818120"/>
          </a:xfrm>
          <a:prstGeom prst="rect">
            <a:avLst/>
          </a:prstGeom>
          <a:solidFill>
            <a:srgbClr val="0D0F0E"/>
          </a:solidFill>
          <a:ln w="12700">
            <a:solidFill>
              <a:srgbClr val="0D0F0E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257800" y="1539850"/>
            <a:ext cx="3867912" cy="4847234"/>
          </a:xfrm>
          <a:prstGeom prst="rect">
            <a:avLst/>
          </a:prstGeom>
          <a:solidFill>
            <a:srgbClr val="313633"/>
          </a:solidFill>
          <a:ln w="12700">
            <a:solidFill>
              <a:srgbClr val="313633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721949" y="1927628"/>
            <a:ext cx="850941" cy="4071677"/>
          </a:xfrm>
          <a:prstGeom prst="rect">
            <a:avLst/>
          </a:prstGeom>
          <a:solidFill>
            <a:srgbClr val="3C423E"/>
          </a:solidFill>
          <a:ln w="12700">
            <a:solidFill>
              <a:srgbClr val="3C423E">
                <a:alpha val="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766286" y="2412352"/>
            <a:ext cx="1856598" cy="2665979"/>
          </a:xfrm>
          <a:prstGeom prst="rect">
            <a:avLst/>
          </a:prstGeom>
          <a:solidFill>
            <a:srgbClr val="272C29"/>
          </a:solidFill>
          <a:ln w="12700">
            <a:solidFill>
              <a:srgbClr val="272C29">
                <a:alpha val="0"/>
              </a:srgbClr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5412516" y="5126803"/>
            <a:ext cx="3481121" cy="5816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3F5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careerComplexMachine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9125712" y="2087118"/>
            <a:ext cx="246888" cy="3752698"/>
          </a:xfrm>
          <a:prstGeom prst="rect">
            <a:avLst/>
          </a:prstGeom>
          <a:solidFill>
            <a:srgbClr val="AEB4AF"/>
          </a:solidFill>
          <a:ln w="12700">
            <a:solidFill>
              <a:srgbClr val="AEB4AF">
                <a:alpha val="0"/>
              </a:srgbClr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504688" y="1852574"/>
            <a:ext cx="2263140" cy="93817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3F5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Complex</a:t>
            </a:r>
            <a:endParaRPr lang="en-US" sz="2000" dirty="0"/>
          </a:p>
          <a:p>
            <a:pPr algn="l" indent="0" marL="0">
              <a:buNone/>
            </a:pPr>
            <a:r>
              <a:rPr lang="en-US" sz="2000" b="1" dirty="0">
                <a:solidFill>
                  <a:srgbClr val="F3F5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problems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5504688" y="6230722"/>
            <a:ext cx="3538728" cy="938174"/>
          </a:xfrm>
          <a:prstGeom prst="rect">
            <a:avLst/>
          </a:prstGeom>
          <a:solidFill>
            <a:srgbClr val="F3F5F2"/>
          </a:solidFill>
          <a:ln w="12700">
            <a:solidFill>
              <a:srgbClr val="F3F5F2">
                <a:alpha val="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504688" y="6230722"/>
            <a:ext cx="64008" cy="938174"/>
          </a:xfrm>
          <a:prstGeom prst="rect">
            <a:avLst/>
          </a:prstGeom>
          <a:solidFill>
            <a:srgbClr val="642832"/>
          </a:solidFill>
          <a:ln w="12700">
            <a:solidFill>
              <a:srgbClr val="642832">
                <a:alpha val="0"/>
              </a:srgbClr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5641848" y="6322162"/>
            <a:ext cx="813907" cy="20639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69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ILLUSTRATIVE RESPONSE</a:t>
            </a:r>
            <a:endParaRPr lang="en-US" sz="900" dirty="0"/>
          </a:p>
        </p:txBody>
      </p:sp>
      <p:sp>
        <p:nvSpPr>
          <p:cNvPr id="15" name="Text 13"/>
          <p:cNvSpPr txBox="1"/>
          <p:nvPr/>
        </p:nvSpPr>
        <p:spPr>
          <a:xfrm>
            <a:off x="5641848" y="6541618"/>
            <a:ext cx="2335560" cy="41279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00" i="1" dirty="0">
                <a:solidFill>
                  <a:srgbClr val="0D0F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Retained source</a:t>
            </a:r>
            <a:endParaRPr lang="en-US" sz="1700" dirty="0"/>
          </a:p>
        </p:txBody>
      </p:sp>
      <p:sp>
        <p:nvSpPr>
          <p:cNvPr id="16" name="Text 14"/>
          <p:cNvSpPr txBox="1"/>
          <p:nvPr/>
        </p:nvSpPr>
        <p:spPr>
          <a:xfrm>
            <a:off x="8335670" y="6395314"/>
            <a:ext cx="601584" cy="5159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69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CURRENT</a:t>
            </a:r>
            <a:endParaRPr lang="en-US" sz="900" dirty="0"/>
          </a:p>
        </p:txBody>
      </p:sp>
      <p:sp>
        <p:nvSpPr>
          <p:cNvPr id="17" name="Text 15"/>
          <p:cNvSpPr txBox="1"/>
          <p:nvPr/>
        </p:nvSpPr>
        <p:spPr>
          <a:xfrm>
            <a:off x="5586984" y="7559802"/>
            <a:ext cx="3456432" cy="31272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AEB4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01  02  03  04  05</a:t>
            </a:r>
            <a:endParaRPr lang="en-US" sz="9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2227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658368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AEB4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MOBILE BOARD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1005840"/>
            <a:ext cx="135331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3F5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Progress / Longitudinal Film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1664208"/>
            <a:ext cx="13258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AEB4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Record depth stack and same-source recrop. No three stacked modules.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257800" y="914400"/>
            <a:ext cx="4114800" cy="7818120"/>
          </a:xfrm>
          <a:prstGeom prst="rect">
            <a:avLst/>
          </a:prstGeom>
          <a:solidFill>
            <a:srgbClr val="0D0F0E"/>
          </a:solidFill>
          <a:ln w="12700">
            <a:solidFill>
              <a:srgbClr val="0D0F0E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257800" y="1539850"/>
            <a:ext cx="3621024" cy="4534510"/>
          </a:xfrm>
          <a:prstGeom prst="rect">
            <a:avLst/>
          </a:prstGeom>
          <a:solidFill>
            <a:srgbClr val="313633"/>
          </a:solidFill>
          <a:ln w="12700">
            <a:solidFill>
              <a:srgbClr val="313633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692323" y="1902610"/>
            <a:ext cx="796625" cy="3808988"/>
          </a:xfrm>
          <a:prstGeom prst="rect">
            <a:avLst/>
          </a:prstGeom>
          <a:solidFill>
            <a:srgbClr val="3C423E"/>
          </a:solidFill>
          <a:ln w="12700">
            <a:solidFill>
              <a:srgbClr val="3C423E">
                <a:alpha val="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669999" y="2356061"/>
            <a:ext cx="1738092" cy="2493980"/>
          </a:xfrm>
          <a:prstGeom prst="rect">
            <a:avLst/>
          </a:prstGeom>
          <a:solidFill>
            <a:srgbClr val="272C29"/>
          </a:solidFill>
          <a:ln w="12700">
            <a:solidFill>
              <a:srgbClr val="272C29">
                <a:alpha val="0"/>
              </a:srgbClr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5402641" y="4895387"/>
            <a:ext cx="3258922" cy="544141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3F5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progressStudio A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656832" y="2634386"/>
            <a:ext cx="2715768" cy="3909060"/>
          </a:xfrm>
          <a:prstGeom prst="rect">
            <a:avLst/>
          </a:prstGeom>
          <a:solidFill>
            <a:srgbClr val="313633"/>
          </a:solidFill>
          <a:ln w="12700">
            <a:solidFill>
              <a:srgbClr val="313633">
                <a:alpha val="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982724" y="2947111"/>
            <a:ext cx="597469" cy="3283610"/>
          </a:xfrm>
          <a:prstGeom prst="rect">
            <a:avLst/>
          </a:prstGeom>
          <a:solidFill>
            <a:srgbClr val="3C423E"/>
          </a:solidFill>
          <a:ln w="12700">
            <a:solidFill>
              <a:srgbClr val="3C423E">
                <a:alpha val="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715982" y="3338017"/>
            <a:ext cx="1303569" cy="2149983"/>
          </a:xfrm>
          <a:prstGeom prst="rect">
            <a:avLst/>
          </a:prstGeom>
          <a:solidFill>
            <a:srgbClr val="272C29"/>
          </a:solidFill>
          <a:ln w="12700">
            <a:solidFill>
              <a:srgbClr val="272C29">
                <a:alpha val="0"/>
              </a:srgbClr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765463" y="5527091"/>
            <a:ext cx="2444191" cy="46908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88" b="1" dirty="0">
                <a:solidFill>
                  <a:srgbClr val="F3F5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progressStudio B</a:t>
            </a:r>
            <a:endParaRPr lang="en-US" sz="1188" dirty="0"/>
          </a:p>
        </p:txBody>
      </p:sp>
      <p:sp>
        <p:nvSpPr>
          <p:cNvPr id="14" name="Shape 12"/>
          <p:cNvSpPr/>
          <p:nvPr/>
        </p:nvSpPr>
        <p:spPr>
          <a:xfrm>
            <a:off x="5504688" y="5683453"/>
            <a:ext cx="3209544" cy="938174"/>
          </a:xfrm>
          <a:prstGeom prst="rect">
            <a:avLst/>
          </a:prstGeom>
          <a:solidFill>
            <a:srgbClr val="F3F5F2"/>
          </a:solidFill>
          <a:ln w="12700">
            <a:solidFill>
              <a:srgbClr val="F3F5F2">
                <a:alpha val="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504688" y="5683453"/>
            <a:ext cx="64008" cy="938174"/>
          </a:xfrm>
          <a:prstGeom prst="rect">
            <a:avLst/>
          </a:prstGeom>
          <a:solidFill>
            <a:srgbClr val="642832"/>
          </a:solidFill>
          <a:ln w="12700">
            <a:solidFill>
              <a:srgbClr val="642832">
                <a:alpha val="0"/>
              </a:srgbClr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5641848" y="5774893"/>
            <a:ext cx="738195" cy="20639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69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ILLUSTRATIVE RESPONSE</a:t>
            </a:r>
            <a:endParaRPr lang="en-US" sz="900" dirty="0"/>
          </a:p>
        </p:txBody>
      </p:sp>
      <p:sp>
        <p:nvSpPr>
          <p:cNvPr id="17" name="Text 15"/>
          <p:cNvSpPr txBox="1"/>
          <p:nvPr/>
        </p:nvSpPr>
        <p:spPr>
          <a:xfrm>
            <a:off x="5641848" y="5994349"/>
            <a:ext cx="2118299" cy="41279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00" i="1" dirty="0">
                <a:solidFill>
                  <a:srgbClr val="0D0F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Earlier record</a:t>
            </a:r>
            <a:endParaRPr lang="en-US" sz="1700" dirty="0"/>
          </a:p>
        </p:txBody>
      </p:sp>
      <p:sp>
        <p:nvSpPr>
          <p:cNvPr id="18" name="Text 16"/>
          <p:cNvSpPr txBox="1"/>
          <p:nvPr/>
        </p:nvSpPr>
        <p:spPr>
          <a:xfrm>
            <a:off x="8072323" y="5848045"/>
            <a:ext cx="545622" cy="5159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69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5875020" y="6621628"/>
            <a:ext cx="3209544" cy="938174"/>
          </a:xfrm>
          <a:prstGeom prst="rect">
            <a:avLst/>
          </a:prstGeom>
          <a:solidFill>
            <a:srgbClr val="0D0F0E"/>
          </a:solidFill>
          <a:ln w="12700">
            <a:solidFill>
              <a:srgbClr val="0D0F0E">
                <a:alpha val="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875020" y="6621628"/>
            <a:ext cx="64008" cy="938174"/>
          </a:xfrm>
          <a:prstGeom prst="rect">
            <a:avLst/>
          </a:prstGeom>
          <a:solidFill>
            <a:srgbClr val="642832"/>
          </a:solidFill>
          <a:ln w="12700">
            <a:solidFill>
              <a:srgbClr val="642832">
                <a:alpha val="0"/>
              </a:srgbClr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012180" y="6713068"/>
            <a:ext cx="738195" cy="20639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AEB4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ILLUSTRATIVE RESPONSE</a:t>
            </a:r>
            <a:endParaRPr lang="en-US" sz="900" dirty="0"/>
          </a:p>
        </p:txBody>
      </p:sp>
      <p:sp>
        <p:nvSpPr>
          <p:cNvPr id="22" name="Text 20"/>
          <p:cNvSpPr txBox="1"/>
          <p:nvPr/>
        </p:nvSpPr>
        <p:spPr>
          <a:xfrm>
            <a:off x="6012180" y="6932524"/>
            <a:ext cx="2118299" cy="41279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00" i="1" dirty="0">
                <a:solidFill>
                  <a:srgbClr val="F3F5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Later record</a:t>
            </a:r>
            <a:endParaRPr lang="en-US" sz="1700" dirty="0"/>
          </a:p>
        </p:txBody>
      </p:sp>
      <p:sp>
        <p:nvSpPr>
          <p:cNvPr id="23" name="Text 21"/>
          <p:cNvSpPr txBox="1"/>
          <p:nvPr/>
        </p:nvSpPr>
        <p:spPr>
          <a:xfrm>
            <a:off x="8442655" y="6786220"/>
            <a:ext cx="545622" cy="5159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AEB4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900" dirty="0"/>
          </a:p>
        </p:txBody>
      </p:sp>
      <p:sp>
        <p:nvSpPr>
          <p:cNvPr id="24" name="Text 22"/>
          <p:cNvSpPr txBox="1"/>
          <p:nvPr/>
        </p:nvSpPr>
        <p:spPr>
          <a:xfrm>
            <a:off x="7520940" y="5370728"/>
            <a:ext cx="1234440" cy="31272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6428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revised</a:t>
            </a:r>
            <a:endParaRPr lang="en-US" sz="9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2227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658368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AEB4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MOBILE BOARD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1005840"/>
            <a:ext cx="135331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3F5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Trust / Tap to Trace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1664208"/>
            <a:ext cx="13258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AEB4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Touch-first provenance inspection. No hover dependency.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257800" y="914400"/>
            <a:ext cx="4114800" cy="7818120"/>
          </a:xfrm>
          <a:prstGeom prst="rect">
            <a:avLst/>
          </a:prstGeom>
          <a:solidFill>
            <a:srgbClr val="0D0F0E"/>
          </a:solidFill>
          <a:ln w="12700">
            <a:solidFill>
              <a:srgbClr val="0D0F0E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257800" y="1305306"/>
            <a:ext cx="4114800" cy="3283610"/>
          </a:xfrm>
          <a:prstGeom prst="rect">
            <a:avLst/>
          </a:prstGeom>
          <a:solidFill>
            <a:srgbClr val="313633"/>
          </a:solidFill>
          <a:ln w="12700">
            <a:solidFill>
              <a:srgbClr val="313633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751576" y="1567995"/>
            <a:ext cx="905256" cy="2758233"/>
          </a:xfrm>
          <a:prstGeom prst="rect">
            <a:avLst/>
          </a:prstGeom>
          <a:solidFill>
            <a:srgbClr val="3C423E"/>
          </a:solidFill>
          <a:ln w="12700">
            <a:solidFill>
              <a:srgbClr val="3C423E">
                <a:alpha val="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862572" y="1896356"/>
            <a:ext cx="1975104" cy="1805986"/>
          </a:xfrm>
          <a:prstGeom prst="rect">
            <a:avLst/>
          </a:prstGeom>
          <a:solidFill>
            <a:srgbClr val="272C29"/>
          </a:solidFill>
          <a:ln w="12700">
            <a:solidFill>
              <a:srgbClr val="272C29">
                <a:alpha val="0"/>
              </a:srgbClr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5422392" y="3735178"/>
            <a:ext cx="3703320" cy="39403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3F5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trustInspection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5545836" y="4276192"/>
            <a:ext cx="3538728" cy="1016356"/>
          </a:xfrm>
          <a:prstGeom prst="rect">
            <a:avLst/>
          </a:prstGeom>
          <a:solidFill>
            <a:srgbClr val="F3F5F2"/>
          </a:solidFill>
          <a:ln w="12700">
            <a:solidFill>
              <a:srgbClr val="F3F5F2">
                <a:alpha val="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545836" y="4276192"/>
            <a:ext cx="64008" cy="1016356"/>
          </a:xfrm>
          <a:prstGeom prst="rect">
            <a:avLst/>
          </a:prstGeom>
          <a:solidFill>
            <a:srgbClr val="642832"/>
          </a:solidFill>
          <a:ln w="12700">
            <a:solidFill>
              <a:srgbClr val="642832">
                <a:alpha val="0"/>
              </a:srgbClr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5682996" y="4367632"/>
            <a:ext cx="813907" cy="22359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69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ILLUSTRATIVE RESPONSE</a:t>
            </a:r>
            <a:endParaRPr lang="en-US" sz="900" dirty="0"/>
          </a:p>
        </p:txBody>
      </p:sp>
      <p:sp>
        <p:nvSpPr>
          <p:cNvPr id="13" name="Text 11"/>
          <p:cNvSpPr txBox="1"/>
          <p:nvPr/>
        </p:nvSpPr>
        <p:spPr>
          <a:xfrm>
            <a:off x="5682996" y="4587088"/>
            <a:ext cx="2335560" cy="4471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00" i="1" dirty="0">
                <a:solidFill>
                  <a:srgbClr val="0D0F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Reading assembled from evidence</a:t>
            </a:r>
            <a:endParaRPr lang="en-US" sz="1700" dirty="0"/>
          </a:p>
        </p:txBody>
      </p:sp>
      <p:sp>
        <p:nvSpPr>
          <p:cNvPr id="14" name="Text 12"/>
          <p:cNvSpPr txBox="1"/>
          <p:nvPr/>
        </p:nvSpPr>
        <p:spPr>
          <a:xfrm>
            <a:off x="8376818" y="4440784"/>
            <a:ext cx="601584" cy="5589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69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TRACE</a:t>
            </a:r>
            <a:endParaRPr lang="en-US" sz="900" dirty="0"/>
          </a:p>
        </p:txBody>
      </p:sp>
      <p:sp>
        <p:nvSpPr>
          <p:cNvPr id="15" name="Text 13"/>
          <p:cNvSpPr txBox="1"/>
          <p:nvPr/>
        </p:nvSpPr>
        <p:spPr>
          <a:xfrm>
            <a:off x="5504688" y="5683453"/>
            <a:ext cx="3621024" cy="39090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AEB4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  →  CALCULATED  →  COMPARED</a:t>
            </a:r>
            <a:endParaRPr lang="en-US" sz="800" dirty="0"/>
          </a:p>
        </p:txBody>
      </p:sp>
      <p:sp>
        <p:nvSpPr>
          <p:cNvPr id="16" name="Text 14"/>
          <p:cNvSpPr txBox="1"/>
          <p:nvPr/>
        </p:nvSpPr>
        <p:spPr>
          <a:xfrm>
            <a:off x="5586984" y="6465265"/>
            <a:ext cx="3456432" cy="6254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3F5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Tap a trace point to reveal raw provenance.</a:t>
            </a:r>
            <a:endParaRPr lang="en-US" sz="11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2227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658368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AEB4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MOBILE BOARD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1005840"/>
            <a:ext cx="135331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3F5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Signup / Create First Record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1664208"/>
            <a:ext cx="13258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AEB4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Form first. Environmental image supports rather than blocks account creation.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257800" y="914400"/>
            <a:ext cx="4114800" cy="7818120"/>
          </a:xfrm>
          <a:prstGeom prst="rect">
            <a:avLst/>
          </a:prstGeom>
          <a:solidFill>
            <a:srgbClr val="0D0F0E"/>
          </a:solidFill>
          <a:ln w="12700">
            <a:solidFill>
              <a:srgbClr val="0D0F0E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520940" y="914400"/>
            <a:ext cx="2263140" cy="2658161"/>
          </a:xfrm>
          <a:prstGeom prst="rect">
            <a:avLst/>
          </a:prstGeom>
          <a:solidFill>
            <a:srgbClr val="313633"/>
          </a:solidFill>
          <a:ln w="12700">
            <a:solidFill>
              <a:srgbClr val="313633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792517" y="1127053"/>
            <a:ext cx="497891" cy="2232855"/>
          </a:xfrm>
          <a:prstGeom prst="rect">
            <a:avLst/>
          </a:prstGeom>
          <a:solidFill>
            <a:srgbClr val="3C423E"/>
          </a:solidFill>
          <a:ln w="12700">
            <a:solidFill>
              <a:srgbClr val="3C423E">
                <a:alpha val="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403565" y="1392869"/>
            <a:ext cx="1086307" cy="1461988"/>
          </a:xfrm>
          <a:prstGeom prst="rect">
            <a:avLst/>
          </a:prstGeom>
          <a:solidFill>
            <a:srgbClr val="272C29"/>
          </a:solidFill>
          <a:ln w="12700">
            <a:solidFill>
              <a:srgbClr val="272C29">
                <a:alpha val="0"/>
              </a:srgbClr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611466" y="2881439"/>
            <a:ext cx="2036826" cy="318979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90" b="1" dirty="0">
                <a:solidFill>
                  <a:srgbClr val="F3F5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signupFirstRecord</a:t>
            </a:r>
            <a:endParaRPr lang="en-US" sz="990" dirty="0"/>
          </a:p>
        </p:txBody>
      </p:sp>
      <p:sp>
        <p:nvSpPr>
          <p:cNvPr id="10" name="Text 8"/>
          <p:cNvSpPr txBox="1"/>
          <p:nvPr/>
        </p:nvSpPr>
        <p:spPr>
          <a:xfrm>
            <a:off x="5504688" y="1539850"/>
            <a:ext cx="2798064" cy="6254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3F5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Start a record.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5463540" y="2712568"/>
            <a:ext cx="3703320" cy="4065422"/>
          </a:xfrm>
          <a:prstGeom prst="rect">
            <a:avLst/>
          </a:prstGeom>
          <a:solidFill>
            <a:srgbClr val="F3F5F2"/>
          </a:solidFill>
          <a:ln w="12700">
            <a:solidFill>
              <a:srgbClr val="F3F5F2">
                <a:alpha val="0"/>
              </a:srgbClr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5669280" y="3103474"/>
            <a:ext cx="3209544" cy="23454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0D0F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Email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0D0F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__________________</a:t>
            </a:r>
            <a:endParaRPr lang="en-US" sz="1100" dirty="0"/>
          </a:p>
          <a:p>
            <a:pPr algn="l" indent="0" marL="0">
              <a:buNone/>
            </a:pP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0D0F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Password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0D0F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__________________</a:t>
            </a:r>
            <a:endParaRPr lang="en-US" sz="1100" dirty="0"/>
          </a:p>
          <a:p>
            <a:pPr algn="l" indent="0" marL="0">
              <a:buNone/>
            </a:pP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0D0F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Confirm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0D0F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__________________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5669280" y="5917997"/>
            <a:ext cx="1851660" cy="31272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D0F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Create account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5751576" y="7090715"/>
            <a:ext cx="3127248" cy="781812"/>
          </a:xfrm>
          <a:prstGeom prst="rect">
            <a:avLst/>
          </a:prstGeom>
          <a:solidFill>
            <a:srgbClr val="F3F5F2"/>
          </a:solidFill>
          <a:ln w="12700">
            <a:solidFill>
              <a:srgbClr val="F3F5F2">
                <a:alpha val="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751576" y="7090715"/>
            <a:ext cx="64008" cy="781812"/>
          </a:xfrm>
          <a:prstGeom prst="rect">
            <a:avLst/>
          </a:prstGeom>
          <a:solidFill>
            <a:srgbClr val="642832"/>
          </a:solidFill>
          <a:ln w="12700">
            <a:solidFill>
              <a:srgbClr val="642832">
                <a:alpha val="0"/>
              </a:srgbClr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5888736" y="7182155"/>
            <a:ext cx="719267" cy="171999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69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ILLUSTRATIVE RESPONSE</a:t>
            </a:r>
            <a:endParaRPr lang="en-US" sz="900" dirty="0"/>
          </a:p>
        </p:txBody>
      </p:sp>
      <p:sp>
        <p:nvSpPr>
          <p:cNvPr id="17" name="Text 15"/>
          <p:cNvSpPr txBox="1"/>
          <p:nvPr/>
        </p:nvSpPr>
        <p:spPr>
          <a:xfrm>
            <a:off x="5888736" y="7401611"/>
            <a:ext cx="2063984" cy="34399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endParaRPr lang="en-US" sz="1700" dirty="0"/>
          </a:p>
        </p:txBody>
      </p:sp>
      <p:sp>
        <p:nvSpPr>
          <p:cNvPr id="18" name="Text 16"/>
          <p:cNvSpPr txBox="1"/>
          <p:nvPr/>
        </p:nvSpPr>
        <p:spPr>
          <a:xfrm>
            <a:off x="8253374" y="7255307"/>
            <a:ext cx="531632" cy="42999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69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NEW RECORD</a:t>
            </a:r>
            <a:endParaRPr lang="en-US" sz="9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0D0F0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228600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3F5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Personality Assessor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7315200" y="228600"/>
            <a:ext cx="6812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00" dirty="0">
                <a:solidFill>
                  <a:srgbClr val="AEB4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it works   Career   Progress   Methodology   Trust   Sign in   Index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658368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AEB4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STATIC BOARD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502920" y="1005840"/>
            <a:ext cx="135331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3F5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Route Transition / Shared Protagonist</a:t>
            </a:r>
            <a:endParaRPr lang="en-US" sz="2600" dirty="0"/>
          </a:p>
        </p:txBody>
      </p:sp>
      <p:sp>
        <p:nvSpPr>
          <p:cNvPr id="6" name="Text 4"/>
          <p:cNvSpPr txBox="1"/>
          <p:nvPr/>
        </p:nvSpPr>
        <p:spPr>
          <a:xfrm>
            <a:off x="502920" y="1664208"/>
            <a:ext cx="13258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AEB4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Evidence Strip is the handoff object. Destination world exists behind it before reveal.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0" y="502920"/>
            <a:ext cx="7040880" cy="8046720"/>
          </a:xfrm>
          <a:prstGeom prst="rect">
            <a:avLst/>
          </a:prstGeom>
          <a:solidFill>
            <a:srgbClr val="313633"/>
          </a:solidFill>
          <a:ln w="12700">
            <a:solidFill>
              <a:srgbClr val="313633">
                <a:alpha val="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44906" y="1146658"/>
            <a:ext cx="1548994" cy="6759245"/>
          </a:xfrm>
          <a:prstGeom prst="rect">
            <a:avLst/>
          </a:prstGeom>
          <a:solidFill>
            <a:srgbClr val="3C423E"/>
          </a:solidFill>
          <a:ln w="12700">
            <a:solidFill>
              <a:srgbClr val="3C423E">
                <a:alpha val="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745943" y="1951330"/>
            <a:ext cx="3379622" cy="4425696"/>
          </a:xfrm>
          <a:prstGeom prst="rect">
            <a:avLst/>
          </a:prstGeom>
          <a:solidFill>
            <a:srgbClr val="272C29"/>
          </a:solidFill>
          <a:ln w="12700">
            <a:solidFill>
              <a:srgbClr val="272C29">
                <a:alpha val="0"/>
              </a:srgbClr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281635" y="6457493"/>
            <a:ext cx="6336792" cy="96560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3F5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outgoing world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281635" y="7423099"/>
            <a:ext cx="6336792" cy="64373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AEB4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current route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7589520" y="502920"/>
            <a:ext cx="7040880" cy="8046720"/>
          </a:xfrm>
          <a:prstGeom prst="rect">
            <a:avLst/>
          </a:prstGeom>
          <a:solidFill>
            <a:srgbClr val="313633"/>
          </a:solidFill>
          <a:ln w="12700">
            <a:solidFill>
              <a:srgbClr val="313633">
                <a:alpha val="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434426" y="1146658"/>
            <a:ext cx="1548994" cy="6759245"/>
          </a:xfrm>
          <a:prstGeom prst="rect">
            <a:avLst/>
          </a:prstGeom>
          <a:solidFill>
            <a:srgbClr val="3C423E"/>
          </a:solidFill>
          <a:ln w="12700">
            <a:solidFill>
              <a:srgbClr val="3C423E">
                <a:alpha val="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0335463" y="1951330"/>
            <a:ext cx="3379622" cy="4425696"/>
          </a:xfrm>
          <a:prstGeom prst="rect">
            <a:avLst/>
          </a:prstGeom>
          <a:solidFill>
            <a:srgbClr val="272C29"/>
          </a:solidFill>
          <a:ln w="12700">
            <a:solidFill>
              <a:srgbClr val="272C29">
                <a:alpha val="0"/>
              </a:srgbClr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7871155" y="6457493"/>
            <a:ext cx="6336792" cy="96560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3F5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destination world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7871155" y="7423099"/>
            <a:ext cx="6336792" cy="64373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AEB4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prepared behind transition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3840480" y="3703320"/>
            <a:ext cx="6949440" cy="1005840"/>
          </a:xfrm>
          <a:prstGeom prst="rect">
            <a:avLst/>
          </a:prstGeom>
          <a:solidFill>
            <a:srgbClr val="F3F5F2"/>
          </a:solidFill>
          <a:ln w="12700">
            <a:solidFill>
              <a:srgbClr val="F3F5F2">
                <a:alpha val="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840480" y="3703320"/>
            <a:ext cx="64008" cy="1005840"/>
          </a:xfrm>
          <a:prstGeom prst="rect">
            <a:avLst/>
          </a:prstGeom>
          <a:solidFill>
            <a:srgbClr val="642832"/>
          </a:solidFill>
          <a:ln w="12700">
            <a:solidFill>
              <a:srgbClr val="642832">
                <a:alpha val="0"/>
              </a:srgbClr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3977640" y="3794760"/>
            <a:ext cx="1598371" cy="22128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69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ILLUSTRATIVE RESPONSE</a:t>
            </a:r>
            <a:endParaRPr lang="en-US" sz="900" dirty="0"/>
          </a:p>
        </p:txBody>
      </p:sp>
      <p:sp>
        <p:nvSpPr>
          <p:cNvPr id="20" name="Text 18"/>
          <p:cNvSpPr txBox="1"/>
          <p:nvPr/>
        </p:nvSpPr>
        <p:spPr>
          <a:xfrm>
            <a:off x="3977640" y="4014216"/>
            <a:ext cx="4586630" cy="44257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00" i="1" dirty="0">
                <a:solidFill>
                  <a:srgbClr val="0D0F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Retained source</a:t>
            </a:r>
            <a:endParaRPr lang="en-US" sz="1700" dirty="0"/>
          </a:p>
        </p:txBody>
      </p:sp>
      <p:sp>
        <p:nvSpPr>
          <p:cNvPr id="21" name="Text 19"/>
          <p:cNvSpPr txBox="1"/>
          <p:nvPr/>
        </p:nvSpPr>
        <p:spPr>
          <a:xfrm>
            <a:off x="9400032" y="3867912"/>
            <a:ext cx="1181405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69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TRANSITION / SAME RECORD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7315200" y="4663440"/>
            <a:ext cx="0" cy="-2194560"/>
          </a:xfrm>
          <a:prstGeom prst="line">
            <a:avLst/>
          </a:prstGeom>
          <a:noFill/>
          <a:ln w="38100">
            <a:solidFill>
              <a:srgbClr val="642832"/>
            </a:solidFill>
            <a:prstDash val="solid"/>
            <a:headEnd type="none"/>
            <a:tailEnd type="none"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32</Slides>
  <Notes>32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32</vt:i4>
      </vt:variant>
    </vt:vector>
  </HeadingPairs>
  <TitlesOfParts>
    <vt:vector size="3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</vt:vector>
  </TitlesOfParts>
  <Company>Valtum Studio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Personality Assessor - Living Record Composition Boards</dc:title>
  <dc:subject>Personality Assessor Living Record Composition Boards</dc:subject>
  <dc:creator>OpenAI</dc:creator>
  <cp:lastModifiedBy>OpenAI</cp:lastModifiedBy>
  <cp:revision>1</cp:revision>
  <dcterms:created xsi:type="dcterms:W3CDTF">2026-08-22T12:16:29Z</dcterms:created>
  <dcterms:modified xsi:type="dcterms:W3CDTF">2026-08-22T12:16:29Z</dcterms:modified>
</cp:coreProperties>
</file>